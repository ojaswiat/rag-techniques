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title, the ethics category A0, and that the project uses public filings and no human participants. Move on quickly.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the numbers out loud: 13 filings, 5 companies, 18,297 nodes.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aims. Emphasise that retrieval is the only variable that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filing becomes nodes, and every node carries an id. Three indexes are built over those same nodes. Walk it left to right once. Close on the line that matters: same input, three ways of organising it, so one variable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rows state how each pipeline works. The third row is a prediction. Point at it and say plainly that it is a hypothesis, not a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Land the three numbers: 13 filings, 339 tests, one financial-domain citation. Keep it to about twenty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honest here. Zero results is the true state, and saying it plainly beats a vague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Swipe to the second desktop here. Do not narrate the switch. Five rows, five things on screen, in this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run they just watched. Read one row, not three. The P3 line is the one worth pausing on: it retrieved real nodes from a neighbouring section, which is the failure mode its architecture predicts.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claims, none of them about which pipeline wins.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falsification point. It shows the question is genuinely open.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868680"/>
            <a:ext cx="1371600" cy="6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188720"/>
            <a:ext cx="10424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400" b="1">
                <a:solidFill>
                  <a:srgbClr val="0F172A"/>
                </a:solidFill>
                <a:latin typeface="Calibri"/>
              </a:rPr>
              <a:t>Three ways to find an answer in a 10-K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331720"/>
            <a:ext cx="9509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64748B"/>
                </a:solidFill>
                <a:latin typeface="Calibri"/>
              </a:rPr>
              <a:t>This project compares semantic, statistical and structural retrieval over SEC annual filings, holding everything after retrieval identical.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10896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172A"/>
                </a:solidFill>
                <a:latin typeface="Calibri"/>
              </a:rPr>
              <a:t>Ojaswi Athghara  ·  201959096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200" b="0">
                <a:solidFill>
                  <a:srgbClr val="64748B"/>
                </a:solidFill>
                <a:latin typeface="Calibri"/>
              </a:rPr>
              <a:t>COMP702 MSc Project  ·  Supervisor: Blaine Keetch  ·  Second assessment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977639"/>
            <a:ext cx="11057839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4187952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172A"/>
                </a:solidFill>
                <a:latin typeface="Calibri"/>
              </a:rPr>
              <a:t>STATEMENT OF ETHICAL COMPLIANCE:  A0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553712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4748B"/>
                </a:solidFill>
                <a:latin typeface="Calibri"/>
              </a:rPr>
              <a:t>Data Category A.  Every source document is a United States SEC 10-K filing taken from EDGAR, a public regulatory archive. The data carries no personal or confidential information and needs no licence or consent.</a:t>
            </a:r>
          </a:p>
          <a:p>
            <a:pPr algn="l">
              <a:lnSpc>
                <a:spcPct val="125000"/>
              </a:lnSpc>
              <a:spcBef>
                <a:spcPts val="700"/>
              </a:spcBef>
            </a:pPr>
            <a:r>
              <a:rPr sz="1200" b="0">
                <a:solidFill>
                  <a:srgbClr val="64748B"/>
                </a:solidFill>
                <a:latin typeface="Calibri"/>
              </a:rPr>
              <a:t>Participant Category 0.  The project uses no human participants. Two language models generate and verify the benchmark; I carry out the two manual steps myself on the project's own outputs.</a:t>
            </a:r>
          </a:p>
          <a:p>
            <a:pPr algn="l">
              <a:lnSpc>
                <a:spcPct val="125000"/>
              </a:lnSpc>
              <a:spcBef>
                <a:spcPts val="700"/>
              </a:spcBef>
            </a:pPr>
            <a:r>
              <a:rPr sz="1200" b="1">
                <a:solidFill>
                  <a:srgbClr val="0F172A"/>
                </a:solidFill>
                <a:latin typeface="Calibri"/>
              </a:rPr>
              <a:t>I have read the ethical guidance and I follow it throughout this project.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27487" y="638251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onsola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48640"/>
            <a:ext cx="274320" cy="444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4748B"/>
                </a:solidFill>
                <a:latin typeface="Calibri"/>
              </a:rP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>
                <a:solidFill>
                  <a:srgbClr val="0F172A"/>
                </a:solidFill>
                <a:latin typeface="Calibri"/>
              </a:rPr>
              <a:t>A 10-K hides its answers in three different shapes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9509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4748B"/>
                </a:solidFill>
                <a:latin typeface="Calibri"/>
              </a:rPr>
              <a:t>Retrieval systems are usually tested on prose. An annual report mixes prose with dense tables and cross-referenced notes.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029968"/>
            <a:ext cx="3564026" cy="508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231136"/>
            <a:ext cx="356402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F172A"/>
                </a:solidFill>
                <a:latin typeface="Calibri"/>
              </a:rPr>
              <a:t>Narrative prose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651760"/>
            <a:ext cx="3564026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4748B"/>
                </a:solidFill>
                <a:latin typeface="Calibri"/>
              </a:rPr>
              <a:t>Management states the answer in a sentence. Meaning-based search handles this well.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3834" y="2029968"/>
            <a:ext cx="3564026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13834" y="2231136"/>
            <a:ext cx="356402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F172A"/>
                </a:solidFill>
                <a:latin typeface="Calibri"/>
              </a:rPr>
              <a:t>Financial tables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3834" y="2651760"/>
            <a:ext cx="3564026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4748B"/>
                </a:solidFill>
                <a:latin typeface="Calibri"/>
              </a:rPr>
              <a:t>The answer sits in one cell of a numeric grid. Summarising the table destroys 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60740" y="2029968"/>
            <a:ext cx="3564026" cy="50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60740" y="2231136"/>
            <a:ext cx="356402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F172A"/>
                </a:solidFill>
                <a:latin typeface="Calibri"/>
              </a:rPr>
              <a:t>Cross-referenced footnotes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60740" y="2651760"/>
            <a:ext cx="3564026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4748B"/>
                </a:solidFill>
                <a:latin typeface="Calibri"/>
              </a:rPr>
              <a:t>The answer spans a note and the table it qualifies, so the reader must join them.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4846320"/>
            <a:ext cx="2641015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4992624"/>
            <a:ext cx="26410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43F5E"/>
                </a:solidFill>
                <a:latin typeface="Consolas"/>
              </a:rPr>
              <a:t>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486400"/>
            <a:ext cx="26410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64748B"/>
                </a:solidFill>
                <a:latin typeface="Calibri"/>
              </a:rPr>
              <a:t>FILINGS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72535" y="4846320"/>
            <a:ext cx="2641015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72535" y="4992624"/>
            <a:ext cx="26410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43F5E"/>
                </a:solidFill>
                <a:latin typeface="Consolas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72535" y="5486400"/>
            <a:ext cx="26410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64748B"/>
                </a:solidFill>
                <a:latin typeface="Calibri"/>
              </a:rPr>
              <a:t>COMPANIES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8142" y="4846320"/>
            <a:ext cx="2641015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8142" y="4992624"/>
            <a:ext cx="26410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59E0B"/>
                </a:solidFill>
                <a:latin typeface="Consolas"/>
              </a:rPr>
              <a:t>18,297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8142" y="5486400"/>
            <a:ext cx="26410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64748B"/>
                </a:solidFill>
                <a:latin typeface="Calibri"/>
              </a:rPr>
              <a:t>ATOMIC NODES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83749" y="4846320"/>
            <a:ext cx="2641015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3749" y="4992624"/>
            <a:ext cx="26410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3B82F6"/>
                </a:solidFill>
                <a:latin typeface="Consolas"/>
              </a:rPr>
              <a:t>140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3749" y="5486400"/>
            <a:ext cx="26410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64748B"/>
                </a:solidFill>
                <a:latin typeface="Calibri"/>
              </a:rPr>
              <a:t>BENCHMARK QUESTIONS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27487" y="638251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onsola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48640"/>
            <a:ext cx="274320" cy="4445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4748B"/>
                </a:solidFill>
                <a:latin typeface="Calibri"/>
              </a:rPr>
              <a:t>RESEARCH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>
                <a:solidFill>
                  <a:srgbClr val="0F172A"/>
                </a:solidFill>
                <a:latin typeface="Calibri"/>
              </a:rPr>
              <a:t>Does document structure decide which retrieval paradigm wins?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9509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4748B"/>
                </a:solidFill>
                <a:latin typeface="Calibri"/>
              </a:rPr>
              <a:t>The question stays open. No number in this deck answers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029968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E2E8F0"/>
                </a:solidFill>
                <a:latin typeface="Consola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2728" y="2002536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F172A"/>
                </a:solidFill>
                <a:latin typeface="Calibri"/>
              </a:rPr>
              <a:t>Build three pipelines that differ only in how they index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2728" y="2340864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  <a:latin typeface="Calibri"/>
              </a:rPr>
              <a:t>Semantic vectors, BM25 term statistics, and a summary tree over each filing.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962656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E2E8F0"/>
                </a:solidFill>
                <a:latin typeface="Consola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2728" y="2935224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F172A"/>
                </a:solidFill>
                <a:latin typeface="Calibri"/>
              </a:rPr>
              <a:t>Generate a benchmark with verified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2728" y="3273552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  <a:latin typeface="Calibri"/>
              </a:rPr>
              <a:t>Two language models from different families propose and check every question.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895344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E2E8F0"/>
                </a:solidFill>
                <a:latin typeface="Consola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2728" y="3867912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F172A"/>
                </a:solidFill>
                <a:latin typeface="Calibri"/>
              </a:rPr>
              <a:t>Measure retrieval, answer quality and cost separately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2728" y="4206240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  <a:latin typeface="Calibri"/>
              </a:rPr>
              <a:t>A paradigm can win on accuracy and lose on speed, so each metric stands on its own.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27487" y="638251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onsola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274320" cy="4445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" y="38404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4748B"/>
                </a:solidFill>
                <a:latin typeface="Calibri"/>
              </a:rPr>
              <a:t>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94944"/>
            <a:ext cx="110578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800" b="1">
                <a:solidFill>
                  <a:srgbClr val="0F172A"/>
                </a:solidFill>
                <a:latin typeface="Calibri"/>
              </a:rPr>
              <a:t>How a filing becomes searchable</a:t>
            </a:r>
          </a:p>
        </p:txBody>
      </p:sp>
      <p:pic>
        <p:nvPicPr>
          <p:cNvPr id="6" name="Picture 5" descr="01-high-level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5475" y="1298448"/>
            <a:ext cx="6160744" cy="51480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27487" y="638251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onsola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274320" cy="4445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" y="38404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4748B"/>
                </a:solidFill>
                <a:latin typeface="Calibri"/>
              </a:rPr>
              <a:t>THE VARIABLE UNDER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94944"/>
            <a:ext cx="110578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800" b="1">
                <a:solidFill>
                  <a:srgbClr val="0F172A"/>
                </a:solidFill>
                <a:latin typeface="Calibri"/>
              </a:rPr>
              <a:t>Each paradigm indexes a different property</a:t>
            </a:r>
          </a:p>
        </p:txBody>
      </p:sp>
      <p:pic>
        <p:nvPicPr>
          <p:cNvPr id="6" name="Picture 5" descr="08-paradigm-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5038" y="1298448"/>
            <a:ext cx="9041619" cy="51480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27487" y="638251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onsola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48640"/>
            <a:ext cx="274320" cy="444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4748B"/>
                </a:solidFill>
                <a:latin typeface="Calibri"/>
              </a:rPr>
              <a:t>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>
                <a:solidFill>
                  <a:srgbClr val="0F172A"/>
                </a:solidFill>
                <a:latin typeface="Calibri"/>
              </a:rPr>
              <a:t>What the project pins down before running anything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9509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4748B"/>
                </a:solidFill>
                <a:latin typeface="Calibri"/>
              </a:rPr>
              <a:t>Scope, tests and reading, each settled with a number or a citation.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029968"/>
            <a:ext cx="50800" cy="841248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2029968"/>
            <a:ext cx="4480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F172A"/>
                </a:solidFill>
                <a:latin typeface="Calibri"/>
              </a:rPr>
              <a:t>The corpus carries a stated size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96128" y="2029968"/>
            <a:ext cx="6035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4748B"/>
                </a:solidFill>
                <a:latin typeface="Calibri"/>
              </a:rPr>
              <a:t>13 filings across 5 companies give 18,297 addressable nodes, counted rather than estimated.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08960"/>
            <a:ext cx="50800" cy="841248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3108960"/>
            <a:ext cx="4480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F172A"/>
                </a:solidFill>
                <a:latin typeface="Calibri"/>
              </a:rPr>
              <a:t>Tests cover every stage of the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3108960"/>
            <a:ext cx="6035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4748B"/>
                </a:solidFill>
                <a:latin typeface="Calibri"/>
              </a:rPr>
              <a:t>339 tests cover ingestion, all three retrieval arms, dataset generation and the judge.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4187952"/>
            <a:ext cx="50800" cy="8412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4187952"/>
            <a:ext cx="4480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F172A"/>
                </a:solidFill>
                <a:latin typeface="Calibri"/>
              </a:rPr>
              <a:t>The review includes financial question answering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96128" y="4187952"/>
            <a:ext cx="6035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4748B"/>
                </a:solidFill>
                <a:latin typeface="Calibri"/>
              </a:rPr>
              <a:t>FinQA (Chen et al., 2021) studies question answering over financial filings. The dissertation widens this section.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71500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172A"/>
                </a:solidFill>
                <a:latin typeface="Calibri"/>
              </a:rPr>
              <a:t>The rest of this video shows the software running.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27487" y="638251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onsola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48640"/>
            <a:ext cx="274320" cy="4445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4748B"/>
                </a:solidFill>
                <a:latin typeface="Calibri"/>
              </a:rPr>
              <a:t>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>
                <a:solidFill>
                  <a:srgbClr val="0F172A"/>
                </a:solidFill>
                <a:latin typeface="Calibri"/>
              </a:rPr>
              <a:t>Six phases stand complete. The benchmark has not run.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9509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4748B"/>
                </a:solidFill>
                <a:latin typeface="Calibri"/>
              </a:rPr>
              <a:t>Verified against the repository, the test suite and the database on 20 August 2026.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029968"/>
            <a:ext cx="2079894" cy="381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176272"/>
            <a:ext cx="207989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2C55E"/>
                </a:solidFill>
                <a:latin typeface="Consolas"/>
              </a:rPr>
              <a:t>339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670048"/>
            <a:ext cx="207989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64748B"/>
                </a:solidFill>
                <a:latin typeface="Calibri"/>
              </a:rPr>
              <a:t>TESTS PASSING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11414" y="2029968"/>
            <a:ext cx="2079894" cy="381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11414" y="2176272"/>
            <a:ext cx="207989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2C55E"/>
                </a:solidFill>
                <a:latin typeface="Consolas"/>
              </a:rPr>
              <a:t>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11414" y="2670048"/>
            <a:ext cx="207989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64748B"/>
                </a:solidFill>
                <a:latin typeface="Calibri"/>
              </a:rPr>
              <a:t>FILINGS INGESTED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55900" y="2029968"/>
            <a:ext cx="2079894" cy="381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55900" y="2176272"/>
            <a:ext cx="207989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2C55E"/>
                </a:solidFill>
                <a:latin typeface="Consolas"/>
              </a:rPr>
              <a:t>140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5900" y="2670048"/>
            <a:ext cx="207989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64748B"/>
                </a:solidFill>
                <a:latin typeface="Calibri"/>
              </a:rPr>
              <a:t>QUESTIONS GENERATED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00386" y="2029968"/>
            <a:ext cx="2079894" cy="381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00386" y="2176272"/>
            <a:ext cx="207989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F4444"/>
                </a:solidFill>
                <a:latin typeface="Consolas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00386" y="2670048"/>
            <a:ext cx="207989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64748B"/>
                </a:solidFill>
                <a:latin typeface="Calibri"/>
              </a:rPr>
              <a:t>BENCHMARK ROWS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44872" y="2029968"/>
            <a:ext cx="2079894" cy="381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44872" y="2176272"/>
            <a:ext cx="207989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F4444"/>
                </a:solidFill>
                <a:latin typeface="Consolas"/>
              </a:rPr>
              <a:t>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44872" y="2670048"/>
            <a:ext cx="207989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64748B"/>
                </a:solidFill>
                <a:latin typeface="Calibri"/>
              </a:rPr>
              <a:t>LABELS OUTSTANDING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361188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F172A"/>
                </a:solidFill>
                <a:latin typeface="Calibri"/>
              </a:rPr>
              <a:t>Built and tested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3995928"/>
            <a:ext cx="49377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4748B"/>
                </a:solidFill>
                <a:latin typeface="Calibri"/>
              </a:rPr>
              <a:t>Ingestion and parsing, all three retrieval pipelines, adversarial dataset generation, and the judge with its metrics.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8" y="361188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F172A"/>
                </a:solidFill>
                <a:latin typeface="Calibri"/>
              </a:rPr>
              <a:t>Blocking the benchmark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7648" y="3995928"/>
            <a:ext cx="49377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4748B"/>
                </a:solidFill>
                <a:latin typeface="Calibri"/>
              </a:rPr>
              <a:t>Twenty golden questions still need hand-labelling, and the judge still needs to clear human scoring, before the 900-run benchmark can start.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5532120"/>
            <a:ext cx="11057839" cy="381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573328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172A"/>
                </a:solidFill>
                <a:latin typeface="Calibri"/>
              </a:rPr>
              <a:t>The results table holds zero rows because the executor has never run. Every other number here comes from the live database.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27487" y="638251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onsola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103120"/>
            <a:ext cx="1371600" cy="6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42316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0F172A"/>
                </a:solidFill>
                <a:latin typeface="Calibri"/>
              </a:rPr>
              <a:t>Now, the software in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611880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172A"/>
                </a:solidFill>
                <a:latin typeface="Calibri"/>
              </a:rPr>
              <a:t>What retrieval means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27248" y="3611880"/>
            <a:ext cx="7863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4748B"/>
                </a:solidFill>
                <a:latin typeface="Calibri"/>
              </a:rPr>
              <a:t>the question, and the paragraph ids that answer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087368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172A"/>
                </a:solidFill>
                <a:latin typeface="Calibri"/>
              </a:rPr>
              <a:t>Source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27248" y="4087368"/>
            <a:ext cx="7863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4748B"/>
                </a:solidFill>
                <a:latin typeface="Calibri"/>
              </a:rPr>
              <a:t>the BM25 tokeniser, and why a standard one will not 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562856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172A"/>
                </a:solidFill>
                <a:latin typeface="Calibri"/>
              </a:rPr>
              <a:t>A live comparison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27248" y="4562856"/>
            <a:ext cx="7863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4748B"/>
                </a:solidFill>
                <a:latin typeface="Calibri"/>
              </a:rPr>
              <a:t>four questions through all three pipelines at K =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038344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172A"/>
                </a:solidFill>
                <a:latin typeface="Calibri"/>
              </a:rPr>
              <a:t>The database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27248" y="5038344"/>
            <a:ext cx="7863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4748B"/>
                </a:solidFill>
                <a:latin typeface="Calibri"/>
              </a:rPr>
              <a:t>live row counts behind every number in this deck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5513832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172A"/>
                </a:solidFill>
                <a:latin typeface="Calibri"/>
              </a:rPr>
              <a:t>The test suite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27248" y="5513832"/>
            <a:ext cx="7863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4748B"/>
                </a:solidFill>
                <a:latin typeface="Calibri"/>
              </a:rPr>
              <a:t>339 tests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27487" y="638251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onsola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48640"/>
            <a:ext cx="274320" cy="444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4748B"/>
                </a:solidFill>
                <a:latin typeface="Calibri"/>
              </a:rPr>
              <a:t>DEMO, MEASURED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>
                <a:solidFill>
                  <a:srgbClr val="0F172A"/>
                </a:solidFill>
                <a:latin typeface="Calibri"/>
              </a:rPr>
              <a:t>Same question, three different sets of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9509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4748B"/>
                </a:solidFill>
                <a:latin typeface="Calibri"/>
              </a:rPr>
              <a:t>MSFT_2023, four questions, one per difficulty quadrant, K = 3. Retrieval only, run locally, zero API calls.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029968"/>
            <a:ext cx="2194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64748B"/>
                </a:solidFill>
                <a:latin typeface="Calibri"/>
              </a:rPr>
              <a:t>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44368" y="2029968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64748B"/>
                </a:solidFill>
                <a:latin typeface="Calibri"/>
              </a:rPr>
              <a:t>P@3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58768" y="2029968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64748B"/>
                </a:solidFill>
                <a:latin typeface="Calibri"/>
              </a:rPr>
              <a:t>R@3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73168" y="2029968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64748B"/>
                </a:solidFill>
                <a:latin typeface="Calibri"/>
              </a:rPr>
              <a:t>LATENCY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53328" y="2029968"/>
            <a:ext cx="55778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64748B"/>
                </a:solidFill>
                <a:latin typeface="Calibri"/>
              </a:rPr>
              <a:t>WHAT THE RUN SHOWED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04288"/>
            <a:ext cx="11057839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468880"/>
            <a:ext cx="38100" cy="2743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450592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172A"/>
                </a:solidFill>
                <a:latin typeface="Calibri"/>
              </a:rPr>
              <a:t>P1  semantic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44368" y="245059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EA5E9"/>
                </a:solidFill>
                <a:latin typeface="Consolas"/>
              </a:rPr>
              <a:t>0.42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58768" y="245059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EA5E9"/>
                </a:solidFill>
                <a:latin typeface="Consolas"/>
              </a:rPr>
              <a:t>0.69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73168" y="245059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EA5E9"/>
                </a:solidFill>
                <a:latin typeface="Consolas"/>
              </a:rPr>
              <a:t>5.34s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2487168"/>
            <a:ext cx="5577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4748B"/>
                </a:solidFill>
                <a:latin typeface="Calibri"/>
              </a:rPr>
              <a:t>Found the evidence every time. The rerank is what costs the five seconds.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2871216"/>
            <a:ext cx="1105783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3054096"/>
            <a:ext cx="38100" cy="274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3035808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172A"/>
                </a:solidFill>
                <a:latin typeface="Calibri"/>
              </a:rPr>
              <a:t>P2  statistical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44368" y="303580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0B981"/>
                </a:solidFill>
                <a:latin typeface="Consolas"/>
              </a:rPr>
              <a:t>0.50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58768" y="303580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0B981"/>
                </a:solidFill>
                <a:latin typeface="Consolas"/>
              </a:rPr>
              <a:t>0.75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73168" y="303580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0B981"/>
                </a:solidFill>
                <a:latin typeface="Consolas"/>
              </a:rPr>
              <a:t>0.02s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53328" y="3072384"/>
            <a:ext cx="5577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4748B"/>
                </a:solidFill>
                <a:latin typeface="Calibri"/>
              </a:rPr>
              <a:t>Ahead here. Three of the four answers sit in tables, BM25's home ground.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456432"/>
            <a:ext cx="1105783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3639312"/>
            <a:ext cx="38100" cy="2743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3621024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172A"/>
                </a:solidFill>
                <a:latin typeface="Calibri"/>
              </a:rPr>
              <a:t>P3  structural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44368" y="362102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8B5CF6"/>
                </a:solidFill>
                <a:latin typeface="Consolas"/>
              </a:rPr>
              <a:t>0.00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58768" y="362102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8B5CF6"/>
                </a:solidFill>
                <a:latin typeface="Consolas"/>
              </a:rPr>
              <a:t>0.00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73168" y="362102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8B5CF6"/>
                </a:solidFill>
                <a:latin typeface="Consolas"/>
              </a:rPr>
              <a:t>4.24s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53328" y="3657600"/>
            <a:ext cx="5577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4748B"/>
                </a:solidFill>
                <a:latin typeface="Calibri"/>
              </a:rPr>
              <a:t>Returned real nodes, from the wrong section. It commits to a branch at the root.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4041648"/>
            <a:ext cx="1105783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6928" y="4315968"/>
            <a:ext cx="3442106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4480560"/>
            <a:ext cx="344210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172A"/>
                </a:solidFill>
                <a:latin typeface="Calibri"/>
              </a:rPr>
              <a:t>Never all three agreed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4846320"/>
            <a:ext cx="344210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64748B"/>
                </a:solidFill>
                <a:latin typeface="Calibri"/>
              </a:rPr>
              <a:t>Seven or eight distinct nodes came back across nine slots, on every question.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74794" y="4315968"/>
            <a:ext cx="3442106" cy="381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74794" y="4480560"/>
            <a:ext cx="344210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172A"/>
                </a:solidFill>
                <a:latin typeface="Calibri"/>
              </a:rPr>
              <a:t>P3's zero is its architecture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74794" y="4846320"/>
            <a:ext cx="344210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64748B"/>
                </a:solidFill>
                <a:latin typeface="Calibri"/>
              </a:rPr>
              <a:t>It chose the lease tables in Item 8 over the properties table in Item 2. A tree walk cannot reverse.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82660" y="4315968"/>
            <a:ext cx="3442106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82660" y="4480560"/>
            <a:ext cx="344210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172A"/>
                </a:solidFill>
                <a:latin typeface="Calibri"/>
              </a:rPr>
              <a:t>0.33 was the maximum possible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82660" y="4846320"/>
            <a:ext cx="344210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64748B"/>
                </a:solidFill>
                <a:latin typeface="Calibri"/>
              </a:rPr>
              <a:t>One correct node at K = 3 caps precision at a third. The denominator is K itself.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" y="5760720"/>
            <a:ext cx="11057839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6928" y="596188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172A"/>
                </a:solidFill>
                <a:latin typeface="Calibri"/>
              </a:rPr>
              <a:t>Four questions on one filing show the mechanism working. The benchmark proper is 900 runs and it has not started.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27487" y="638251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onsola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48640"/>
            <a:ext cx="274320" cy="4445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4748B"/>
                </a:solidFill>
                <a:latin typeface="Calibri"/>
              </a:rPr>
              <a:t>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>
                <a:solidFill>
                  <a:srgbClr val="0F172A"/>
                </a:solidFill>
                <a:latin typeface="Calibri"/>
              </a:rPr>
              <a:t>What the work supports so far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9509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4748B"/>
                </a:solidFill>
                <a:latin typeface="Calibri"/>
              </a:rPr>
              <a:t>None of these come from the benchmark. They come from building the system.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029968"/>
            <a:ext cx="50800" cy="804672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2029968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F172A"/>
                </a:solidFill>
                <a:latin typeface="Calibri"/>
              </a:rPr>
              <a:t>The three paradigms disagree about the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395728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4748B"/>
                </a:solidFill>
                <a:latin typeface="Calibri"/>
              </a:rPr>
              <a:t>On the same question they return different nodes, which is the effect the benchmark measures.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081528"/>
            <a:ext cx="50800" cy="8046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3081528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F172A"/>
                </a:solidFill>
                <a:latin typeface="Calibri"/>
              </a:rPr>
              <a:t>Cost separates them as sharply as accuracy might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3447288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4748B"/>
                </a:solidFill>
                <a:latin typeface="Calibri"/>
              </a:rPr>
              <a:t>BM25 retrieves with no model at all, while the vector arm pays for a cross-encoder on every query.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4133088"/>
            <a:ext cx="50800" cy="8046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4133088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F172A"/>
                </a:solidFill>
                <a:latin typeface="Calibri"/>
              </a:rPr>
              <a:t>Free-tier limits shaped the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4498848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4748B"/>
                </a:solidFill>
                <a:latin typeface="Calibri"/>
              </a:rPr>
              <a:t>The free quota runs out part-way through a run, which forced three providers and a resumable key.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27487" y="638251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onsola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48640"/>
            <a:ext cx="274320" cy="4445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4748B"/>
                </a:solidFill>
                <a:latin typeface="Calibri"/>
              </a:rPr>
              <a:t>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>
                <a:solidFill>
                  <a:srgbClr val="0F172A"/>
                </a:solidFill>
                <a:latin typeface="Calibri"/>
              </a:rPr>
              <a:t>What happens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E2E8F0"/>
                </a:solidFill>
                <a:latin typeface="Consola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" y="1572768"/>
            <a:ext cx="6583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F172A"/>
                </a:solidFill>
                <a:latin typeface="Calibri"/>
              </a:rPr>
              <a:t>Label the 20 golden 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65007" y="1600200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  <a:latin typeface="Calibri"/>
              </a:rPr>
              <a:t>manual, nothing blocks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231136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E2E8F0"/>
                </a:solidFill>
                <a:latin typeface="Consola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2231136"/>
            <a:ext cx="6583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F172A"/>
                </a:solidFill>
                <a:latin typeface="Calibri"/>
              </a:rPr>
              <a:t>Clear the judge against human scoring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65007" y="2258568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  <a:latin typeface="Calibri"/>
              </a:rPr>
              <a:t>60 outputs, held-out questions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889504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E2E8F0"/>
                </a:solidFill>
                <a:latin typeface="Consola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" y="2889504"/>
            <a:ext cx="6583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F172A"/>
                </a:solidFill>
                <a:latin typeface="Calibri"/>
              </a:rPr>
              <a:t>Build the remaining vector and BM25 indexes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65007" y="2916936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  <a:latin typeface="Calibri"/>
              </a:rPr>
              <a:t>local, no API cost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54787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E2E8F0"/>
                </a:solidFill>
                <a:latin typeface="Consola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" y="3547872"/>
            <a:ext cx="6583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F172A"/>
                </a:solidFill>
                <a:latin typeface="Calibri"/>
              </a:rPr>
              <a:t>Run the 900-cell benchmark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65007" y="3575304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  <a:latin typeface="Calibri"/>
              </a:rPr>
              <a:t>free tier, resumable after any crash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20624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E2E8F0"/>
                </a:solidFill>
                <a:latin typeface="Consolas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" y="4206240"/>
            <a:ext cx="6583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F172A"/>
                </a:solidFill>
                <a:latin typeface="Calibri"/>
              </a:rPr>
              <a:t>Report per quadrant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65007" y="4233672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  <a:latin typeface="Calibri"/>
              </a:rPr>
              <a:t>where each paradigm wins, not one overall winner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5760720"/>
            <a:ext cx="11057839" cy="381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596188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172A"/>
                </a:solidFill>
                <a:latin typeface="Calibri"/>
              </a:rPr>
              <a:t>A result showing no difference between the paradigms would falsify the hypothesis, and that finding still counts.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27487" y="638251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onsolas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