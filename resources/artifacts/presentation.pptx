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44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2"/>
    <p:restoredTop sz="94650"/>
  </p:normalViewPr>
  <p:slideViewPr>
    <p:cSldViewPr snapToGrid="0" snapToObjects="1">
      <p:cViewPr varScale="1">
        <p:scale>
          <a:sx n="156" d="100"/>
          <a:sy n="156" d="100"/>
        </p:scale>
        <p:origin x="18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3412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title, the ethics category A0, and that the project uses public filings and no human participants. Move on quickly.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numbers out loud: 13 filings, 5 companies, 18,297 nodes.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aims. Emphasise that retrieval is the only variable that changes.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corpus, three indexes, one shared answerer and one judge. Walk the flow left to right once. Stress that the answerer and judge never change, so any difference traces back to retrieval.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two rows state how each pipeline works. The third row is a prediction. Point at it and say plainly that it is a hypothesis, not a result.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three numbers: 13 filings, 339 tests, one financial-domain citation. Keep it to about twenty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here. Zero results is the true state, and saying it plainly beats a vague claim.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Swipe to the second desktop here. Do not narrate the switch.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run they just watched. Read one row, not three. The P3 line is the one worth pausing on: it retrieved real nodes from a neighbouring section, which is the failure mode its architecture predicts.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claims, none of them about which pipeline wins.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falsification point. It shows the question is genuinely open.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868680"/>
            <a:ext cx="1371600" cy="635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188720"/>
            <a:ext cx="10424160" cy="1371600"/>
          </a:xfrm>
          <a:prstGeom prst="rect">
            <a:avLst/>
          </a:prstGeom>
          <a:noFill/>
        </p:spPr>
        <p:txBody>
          <a:bodyPr wrap="square" lIns="0" tIns="0" rIns="0" bIns="0" anchor="t">
            <a:spAutoFit/>
          </a:bodyPr>
          <a:lstStyle/>
          <a:p>
            <a:pPr algn="l">
              <a:lnSpc>
                <a:spcPct val="102000"/>
              </a:lnSpc>
            </a:pPr>
            <a:r>
              <a:rPr sz="4400" b="1">
                <a:solidFill>
                  <a:srgbClr val="0F172A"/>
                </a:solidFill>
                <a:latin typeface="Calibri"/>
              </a:rPr>
              <a:t>Three ways to find an answer in a 10-K</a:t>
            </a:r>
          </a:p>
        </p:txBody>
      </p:sp>
      <p:sp>
        <p:nvSpPr>
          <p:cNvPr id="5" name="TextBox 4"/>
          <p:cNvSpPr txBox="1"/>
          <p:nvPr/>
        </p:nvSpPr>
        <p:spPr>
          <a:xfrm>
            <a:off x="566928" y="2331720"/>
            <a:ext cx="9509760" cy="731520"/>
          </a:xfrm>
          <a:prstGeom prst="rect">
            <a:avLst/>
          </a:prstGeom>
          <a:noFill/>
        </p:spPr>
        <p:txBody>
          <a:bodyPr wrap="square" lIns="0" tIns="0" rIns="0" bIns="0" anchor="t">
            <a:spAutoFit/>
          </a:bodyPr>
          <a:lstStyle/>
          <a:p>
            <a:pPr algn="l">
              <a:lnSpc>
                <a:spcPct val="115000"/>
              </a:lnSpc>
            </a:pPr>
            <a:r>
              <a:rPr sz="1600" b="0">
                <a:solidFill>
                  <a:srgbClr val="64748B"/>
                </a:solidFill>
                <a:latin typeface="Calibri"/>
              </a:rPr>
              <a:t>This project compares semantic, statistical and structural retrieval over SEC annual filings, holding everything after retrieval identical.</a:t>
            </a:r>
          </a:p>
        </p:txBody>
      </p:sp>
      <p:sp>
        <p:nvSpPr>
          <p:cNvPr id="6" name="TextBox 5"/>
          <p:cNvSpPr txBox="1"/>
          <p:nvPr/>
        </p:nvSpPr>
        <p:spPr>
          <a:xfrm>
            <a:off x="566928" y="3108960"/>
            <a:ext cx="10424160" cy="457200"/>
          </a:xfrm>
          <a:prstGeom prst="rect">
            <a:avLst/>
          </a:prstGeom>
          <a:noFill/>
        </p:spPr>
        <p:txBody>
          <a:bodyPr wrap="square" lIns="0" tIns="0" rIns="0" bIns="0" anchor="t">
            <a:spAutoFit/>
          </a:bodyPr>
          <a:lstStyle/>
          <a:p>
            <a:pPr algn="l">
              <a:lnSpc>
                <a:spcPct val="115000"/>
              </a:lnSpc>
            </a:pPr>
            <a:r>
              <a:rPr sz="1400" b="1">
                <a:solidFill>
                  <a:srgbClr val="0F172A"/>
                </a:solidFill>
                <a:latin typeface="Calibri"/>
              </a:rPr>
              <a:t>Ojaswi Athghara  ·  201959096</a:t>
            </a:r>
          </a:p>
          <a:p>
            <a:pPr algn="l">
              <a:lnSpc>
                <a:spcPct val="115000"/>
              </a:lnSpc>
              <a:spcBef>
                <a:spcPts val="400"/>
              </a:spcBef>
            </a:pPr>
            <a:r>
              <a:rPr sz="1200" b="0">
                <a:solidFill>
                  <a:srgbClr val="64748B"/>
                </a:solidFill>
                <a:latin typeface="Calibri"/>
              </a:rPr>
              <a:t>COMP702 MSc Project  ·  Supervisor: Blaine Keetch  ·  Second assessment</a:t>
            </a:r>
          </a:p>
        </p:txBody>
      </p:sp>
      <p:sp>
        <p:nvSpPr>
          <p:cNvPr id="7" name="Rectangle 6"/>
          <p:cNvSpPr/>
          <p:nvPr/>
        </p:nvSpPr>
        <p:spPr>
          <a:xfrm>
            <a:off x="566928" y="3977639"/>
            <a:ext cx="11057839"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87952"/>
            <a:ext cx="10424160" cy="274320"/>
          </a:xfrm>
          <a:prstGeom prst="rect">
            <a:avLst/>
          </a:prstGeom>
          <a:noFill/>
        </p:spPr>
        <p:txBody>
          <a:bodyPr wrap="square" lIns="0" tIns="0" rIns="0" bIns="0" anchor="t">
            <a:spAutoFit/>
          </a:bodyPr>
          <a:lstStyle/>
          <a:p>
            <a:pPr algn="l">
              <a:lnSpc>
                <a:spcPct val="115000"/>
              </a:lnSpc>
            </a:pPr>
            <a:r>
              <a:rPr sz="1300" b="1">
                <a:solidFill>
                  <a:srgbClr val="0F172A"/>
                </a:solidFill>
                <a:latin typeface="Calibri"/>
              </a:rPr>
              <a:t>STATEMENT OF ETHICAL COMPLIANCE:  A0</a:t>
            </a:r>
          </a:p>
        </p:txBody>
      </p:sp>
      <p:sp>
        <p:nvSpPr>
          <p:cNvPr id="9" name="TextBox 8"/>
          <p:cNvSpPr txBox="1"/>
          <p:nvPr/>
        </p:nvSpPr>
        <p:spPr>
          <a:xfrm>
            <a:off x="566928" y="4553712"/>
            <a:ext cx="10881360" cy="1085810"/>
          </a:xfrm>
          <a:prstGeom prst="rect">
            <a:avLst/>
          </a:prstGeom>
          <a:noFill/>
        </p:spPr>
        <p:txBody>
          <a:bodyPr wrap="square" lIns="0" tIns="0" rIns="0" bIns="0" anchor="t">
            <a:spAutoFit/>
          </a:bodyPr>
          <a:lstStyle/>
          <a:p>
            <a:pPr algn="l">
              <a:lnSpc>
                <a:spcPct val="125000"/>
              </a:lnSpc>
            </a:pPr>
            <a:r>
              <a:rPr sz="1200" b="0">
                <a:solidFill>
                  <a:srgbClr val="64748B"/>
                </a:solidFill>
                <a:latin typeface="Calibri"/>
              </a:rPr>
              <a:t>Data Category A.  Every source document is a United States SEC 10-K filing taken from EDGAR, a public regulatory archive. The data carries no personal or confidential information and needs no licence or consent.</a:t>
            </a:r>
          </a:p>
          <a:p>
            <a:pPr algn="l">
              <a:lnSpc>
                <a:spcPct val="125000"/>
              </a:lnSpc>
              <a:spcBef>
                <a:spcPts val="700"/>
              </a:spcBef>
            </a:pPr>
            <a:r>
              <a:rPr sz="1200" b="0">
                <a:solidFill>
                  <a:srgbClr val="64748B"/>
                </a:solidFill>
                <a:latin typeface="Calibri"/>
              </a:rPr>
              <a:t>Participant Category 0.  The project uses no human participants. Two language models generate and verify the benchmark</a:t>
            </a:r>
            <a:r>
              <a:rPr lang="en-US" sz="1200" b="0">
                <a:solidFill>
                  <a:srgbClr val="64748B"/>
                </a:solidFill>
                <a:latin typeface="Calibri"/>
              </a:rPr>
              <a:t>.</a:t>
            </a:r>
            <a:endParaRPr lang="en-GB" sz="1200" b="0">
              <a:solidFill>
                <a:srgbClr val="64748B"/>
              </a:solidFill>
              <a:latin typeface="Calibri"/>
            </a:endParaRPr>
          </a:p>
          <a:p>
            <a:pPr algn="l">
              <a:lnSpc>
                <a:spcPct val="125000"/>
              </a:lnSpc>
              <a:spcBef>
                <a:spcPts val="700"/>
              </a:spcBef>
            </a:pPr>
            <a:r>
              <a:rPr lang="en-GB" sz="1200" b="1">
                <a:solidFill>
                  <a:srgbClr val="0F172A"/>
                </a:solidFill>
                <a:latin typeface="Calibri"/>
              </a:rPr>
              <a:t>I have read the ethical guidance and I follow it throughout this project.</a:t>
            </a:r>
          </a:p>
        </p:txBody>
      </p:sp>
      <p:sp>
        <p:nvSpPr>
          <p:cNvPr id="10" name="TextBox 9"/>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MOTIVATION</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A 10-K hides its answers in three different shapes</a:t>
            </a:r>
          </a:p>
        </p:txBody>
      </p:sp>
      <p:sp>
        <p:nvSpPr>
          <p:cNvPr id="6" name="TextBox 5"/>
          <p:cNvSpPr txBox="1"/>
          <p:nvPr/>
        </p:nvSpPr>
        <p:spPr>
          <a:xfrm>
            <a:off x="566928" y="1572768"/>
            <a:ext cx="9509760" cy="548640"/>
          </a:xfrm>
          <a:prstGeom prst="rect">
            <a:avLst/>
          </a:prstGeom>
          <a:noFill/>
        </p:spPr>
        <p:txBody>
          <a:bodyPr wrap="square" lIns="0" tIns="0" rIns="0" bIns="0" anchor="t">
            <a:spAutoFit/>
          </a:bodyPr>
          <a:lstStyle/>
          <a:p>
            <a:pPr algn="l">
              <a:lnSpc>
                <a:spcPct val="115000"/>
              </a:lnSpc>
            </a:pPr>
            <a:r>
              <a:rPr sz="1500" b="0">
                <a:solidFill>
                  <a:srgbClr val="64748B"/>
                </a:solidFill>
                <a:latin typeface="Calibri"/>
              </a:rPr>
              <a:t>Retrieval systems are usually tested on prose. An annual report mixes prose with dense tables and cross-referenced notes.</a:t>
            </a:r>
          </a:p>
        </p:txBody>
      </p:sp>
      <p:sp>
        <p:nvSpPr>
          <p:cNvPr id="7" name="Rectangle 6"/>
          <p:cNvSpPr/>
          <p:nvPr/>
        </p:nvSpPr>
        <p:spPr>
          <a:xfrm>
            <a:off x="566928" y="2029968"/>
            <a:ext cx="3564026" cy="508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2231136"/>
            <a:ext cx="3564026" cy="36576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Narrative prose</a:t>
            </a:r>
          </a:p>
        </p:txBody>
      </p:sp>
      <p:sp>
        <p:nvSpPr>
          <p:cNvPr id="9" name="TextBox 8"/>
          <p:cNvSpPr txBox="1"/>
          <p:nvPr/>
        </p:nvSpPr>
        <p:spPr>
          <a:xfrm>
            <a:off x="566928" y="2651760"/>
            <a:ext cx="3564026" cy="146304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Management states the answer in a sentence. Meaning-based search handles this well.</a:t>
            </a:r>
          </a:p>
        </p:txBody>
      </p:sp>
      <p:sp>
        <p:nvSpPr>
          <p:cNvPr id="10" name="Rectangle 9"/>
          <p:cNvSpPr/>
          <p:nvPr/>
        </p:nvSpPr>
        <p:spPr>
          <a:xfrm>
            <a:off x="4313834" y="2029968"/>
            <a:ext cx="3564026"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13834" y="2231136"/>
            <a:ext cx="3564026" cy="36576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Financial tables</a:t>
            </a:r>
          </a:p>
        </p:txBody>
      </p:sp>
      <p:sp>
        <p:nvSpPr>
          <p:cNvPr id="12" name="TextBox 11"/>
          <p:cNvSpPr txBox="1"/>
          <p:nvPr/>
        </p:nvSpPr>
        <p:spPr>
          <a:xfrm>
            <a:off x="4313834" y="2651760"/>
            <a:ext cx="3564026" cy="146304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The answer sits in one cell of a numeric grid. Summarising the table destroys it.</a:t>
            </a:r>
          </a:p>
        </p:txBody>
      </p:sp>
      <p:sp>
        <p:nvSpPr>
          <p:cNvPr id="13" name="Rectangle 12"/>
          <p:cNvSpPr/>
          <p:nvPr/>
        </p:nvSpPr>
        <p:spPr>
          <a:xfrm>
            <a:off x="8060740" y="2029968"/>
            <a:ext cx="3564026" cy="508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0740" y="2231136"/>
            <a:ext cx="3564026" cy="36576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Cross-referenced footnotes</a:t>
            </a:r>
          </a:p>
        </p:txBody>
      </p:sp>
      <p:sp>
        <p:nvSpPr>
          <p:cNvPr id="15" name="TextBox 14"/>
          <p:cNvSpPr txBox="1"/>
          <p:nvPr/>
        </p:nvSpPr>
        <p:spPr>
          <a:xfrm>
            <a:off x="8060740" y="2651760"/>
            <a:ext cx="3564026" cy="146304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The answer spans a note and the table it qualifies, so the reader must join them.</a:t>
            </a:r>
          </a:p>
        </p:txBody>
      </p:sp>
      <p:sp>
        <p:nvSpPr>
          <p:cNvPr id="16" name="Rectangle 15"/>
          <p:cNvSpPr/>
          <p:nvPr/>
        </p:nvSpPr>
        <p:spPr>
          <a:xfrm>
            <a:off x="566928" y="4846320"/>
            <a:ext cx="2641015" cy="381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4992624"/>
            <a:ext cx="2641015" cy="457200"/>
          </a:xfrm>
          <a:prstGeom prst="rect">
            <a:avLst/>
          </a:prstGeom>
          <a:noFill/>
        </p:spPr>
        <p:txBody>
          <a:bodyPr wrap="square" lIns="0" tIns="0" rIns="0" bIns="0" anchor="t">
            <a:spAutoFit/>
          </a:bodyPr>
          <a:lstStyle/>
          <a:p>
            <a:pPr algn="l">
              <a:lnSpc>
                <a:spcPct val="100000"/>
              </a:lnSpc>
            </a:pPr>
            <a:r>
              <a:rPr sz="3000" b="1">
                <a:solidFill>
                  <a:srgbClr val="F43F5E"/>
                </a:solidFill>
                <a:latin typeface="Consolas"/>
              </a:rPr>
              <a:t>13</a:t>
            </a:r>
          </a:p>
        </p:txBody>
      </p:sp>
      <p:sp>
        <p:nvSpPr>
          <p:cNvPr id="18" name="TextBox 17"/>
          <p:cNvSpPr txBox="1"/>
          <p:nvPr/>
        </p:nvSpPr>
        <p:spPr>
          <a:xfrm>
            <a:off x="566928" y="5486400"/>
            <a:ext cx="2641015"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FILINGS</a:t>
            </a:r>
          </a:p>
        </p:txBody>
      </p:sp>
      <p:sp>
        <p:nvSpPr>
          <p:cNvPr id="19" name="Rectangle 18"/>
          <p:cNvSpPr/>
          <p:nvPr/>
        </p:nvSpPr>
        <p:spPr>
          <a:xfrm>
            <a:off x="3372535" y="4846320"/>
            <a:ext cx="2641015" cy="381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72535" y="4992624"/>
            <a:ext cx="2641015" cy="457200"/>
          </a:xfrm>
          <a:prstGeom prst="rect">
            <a:avLst/>
          </a:prstGeom>
          <a:noFill/>
        </p:spPr>
        <p:txBody>
          <a:bodyPr wrap="square" lIns="0" tIns="0" rIns="0" bIns="0" anchor="t">
            <a:spAutoFit/>
          </a:bodyPr>
          <a:lstStyle/>
          <a:p>
            <a:pPr algn="l">
              <a:lnSpc>
                <a:spcPct val="100000"/>
              </a:lnSpc>
            </a:pPr>
            <a:r>
              <a:rPr sz="3000" b="1">
                <a:solidFill>
                  <a:srgbClr val="F43F5E"/>
                </a:solidFill>
                <a:latin typeface="Consolas"/>
              </a:rPr>
              <a:t>5</a:t>
            </a:r>
          </a:p>
        </p:txBody>
      </p:sp>
      <p:sp>
        <p:nvSpPr>
          <p:cNvPr id="21" name="TextBox 20"/>
          <p:cNvSpPr txBox="1"/>
          <p:nvPr/>
        </p:nvSpPr>
        <p:spPr>
          <a:xfrm>
            <a:off x="3372535" y="5486400"/>
            <a:ext cx="2641015"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COMPANIES</a:t>
            </a:r>
          </a:p>
        </p:txBody>
      </p:sp>
      <p:sp>
        <p:nvSpPr>
          <p:cNvPr id="22" name="Rectangle 21"/>
          <p:cNvSpPr/>
          <p:nvPr/>
        </p:nvSpPr>
        <p:spPr>
          <a:xfrm>
            <a:off x="6178142" y="4846320"/>
            <a:ext cx="2641015"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8142" y="4992624"/>
            <a:ext cx="2641015" cy="457200"/>
          </a:xfrm>
          <a:prstGeom prst="rect">
            <a:avLst/>
          </a:prstGeom>
          <a:noFill/>
        </p:spPr>
        <p:txBody>
          <a:bodyPr wrap="square" lIns="0" tIns="0" rIns="0" bIns="0" anchor="t">
            <a:spAutoFit/>
          </a:bodyPr>
          <a:lstStyle/>
          <a:p>
            <a:pPr algn="l">
              <a:lnSpc>
                <a:spcPct val="100000"/>
              </a:lnSpc>
            </a:pPr>
            <a:r>
              <a:rPr sz="3000" b="1">
                <a:solidFill>
                  <a:srgbClr val="F59E0B"/>
                </a:solidFill>
                <a:latin typeface="Consolas"/>
              </a:rPr>
              <a:t>18,297</a:t>
            </a:r>
          </a:p>
        </p:txBody>
      </p:sp>
      <p:sp>
        <p:nvSpPr>
          <p:cNvPr id="24" name="TextBox 23"/>
          <p:cNvSpPr txBox="1"/>
          <p:nvPr/>
        </p:nvSpPr>
        <p:spPr>
          <a:xfrm>
            <a:off x="6178142" y="5486400"/>
            <a:ext cx="2641015"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ATOMIC NODES</a:t>
            </a:r>
          </a:p>
        </p:txBody>
      </p:sp>
      <p:sp>
        <p:nvSpPr>
          <p:cNvPr id="25" name="Rectangle 24"/>
          <p:cNvSpPr/>
          <p:nvPr/>
        </p:nvSpPr>
        <p:spPr>
          <a:xfrm>
            <a:off x="8983749" y="4846320"/>
            <a:ext cx="2641015"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83749" y="4992624"/>
            <a:ext cx="2641015" cy="457200"/>
          </a:xfrm>
          <a:prstGeom prst="rect">
            <a:avLst/>
          </a:prstGeom>
          <a:noFill/>
        </p:spPr>
        <p:txBody>
          <a:bodyPr wrap="square" lIns="0" tIns="0" rIns="0" bIns="0" anchor="t">
            <a:spAutoFit/>
          </a:bodyPr>
          <a:lstStyle/>
          <a:p>
            <a:pPr algn="l">
              <a:lnSpc>
                <a:spcPct val="100000"/>
              </a:lnSpc>
            </a:pPr>
            <a:r>
              <a:rPr sz="3000" b="1">
                <a:solidFill>
                  <a:srgbClr val="3B82F6"/>
                </a:solidFill>
                <a:latin typeface="Consolas"/>
              </a:rPr>
              <a:t>140</a:t>
            </a:r>
          </a:p>
        </p:txBody>
      </p:sp>
      <p:sp>
        <p:nvSpPr>
          <p:cNvPr id="27" name="TextBox 26"/>
          <p:cNvSpPr txBox="1"/>
          <p:nvPr/>
        </p:nvSpPr>
        <p:spPr>
          <a:xfrm>
            <a:off x="8983749" y="5486400"/>
            <a:ext cx="2641015"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BENCHMARK QUESTIONS</a:t>
            </a:r>
          </a:p>
        </p:txBody>
      </p:sp>
      <p:sp>
        <p:nvSpPr>
          <p:cNvPr id="28" name="TextBox 27"/>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RESEARCH QUESTION</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Does document structure decide which retrieval paradigm wins?</a:t>
            </a:r>
          </a:p>
        </p:txBody>
      </p:sp>
      <p:sp>
        <p:nvSpPr>
          <p:cNvPr id="6" name="TextBox 5"/>
          <p:cNvSpPr txBox="1"/>
          <p:nvPr/>
        </p:nvSpPr>
        <p:spPr>
          <a:xfrm>
            <a:off x="566928" y="1572768"/>
            <a:ext cx="9509760" cy="249877"/>
          </a:xfrm>
          <a:prstGeom prst="rect">
            <a:avLst/>
          </a:prstGeom>
          <a:noFill/>
        </p:spPr>
        <p:txBody>
          <a:bodyPr wrap="square" lIns="0" tIns="0" rIns="0" bIns="0" anchor="t">
            <a:spAutoFit/>
          </a:bodyPr>
          <a:lstStyle/>
          <a:p>
            <a:pPr algn="l">
              <a:lnSpc>
                <a:spcPct val="115000"/>
              </a:lnSpc>
            </a:pPr>
            <a:r>
              <a:rPr lang="en-US" sz="1500">
                <a:solidFill>
                  <a:srgbClr val="64748B"/>
                </a:solidFill>
                <a:latin typeface="Calibri"/>
              </a:rPr>
              <a:t>Pipelines, benchmark, evidence and metrics</a:t>
            </a:r>
            <a:endParaRPr sz="1500" b="0">
              <a:solidFill>
                <a:srgbClr val="64748B"/>
              </a:solidFill>
              <a:latin typeface="Calibri"/>
            </a:endParaRPr>
          </a:p>
        </p:txBody>
      </p:sp>
      <p:sp>
        <p:nvSpPr>
          <p:cNvPr id="7" name="TextBox 6"/>
          <p:cNvSpPr txBox="1"/>
          <p:nvPr/>
        </p:nvSpPr>
        <p:spPr>
          <a:xfrm>
            <a:off x="566928" y="2029968"/>
            <a:ext cx="548640" cy="365760"/>
          </a:xfrm>
          <a:prstGeom prst="rect">
            <a:avLst/>
          </a:prstGeom>
          <a:noFill/>
        </p:spPr>
        <p:txBody>
          <a:bodyPr wrap="square" lIns="0" tIns="0" rIns="0" bIns="0" anchor="t">
            <a:spAutoFit/>
          </a:bodyPr>
          <a:lstStyle/>
          <a:p>
            <a:pPr algn="l">
              <a:lnSpc>
                <a:spcPct val="115000"/>
              </a:lnSpc>
            </a:pPr>
            <a:r>
              <a:rPr sz="2000" b="1">
                <a:solidFill>
                  <a:srgbClr val="E2E8F0"/>
                </a:solidFill>
                <a:latin typeface="Consolas"/>
              </a:rPr>
              <a:t>01</a:t>
            </a:r>
          </a:p>
        </p:txBody>
      </p:sp>
      <p:sp>
        <p:nvSpPr>
          <p:cNvPr id="8" name="TextBox 7"/>
          <p:cNvSpPr txBox="1"/>
          <p:nvPr/>
        </p:nvSpPr>
        <p:spPr>
          <a:xfrm>
            <a:off x="1252728" y="2002536"/>
            <a:ext cx="1005840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Build three pipelines that differ only in how they index</a:t>
            </a:r>
          </a:p>
        </p:txBody>
      </p:sp>
      <p:sp>
        <p:nvSpPr>
          <p:cNvPr id="9" name="TextBox 8"/>
          <p:cNvSpPr txBox="1"/>
          <p:nvPr/>
        </p:nvSpPr>
        <p:spPr>
          <a:xfrm>
            <a:off x="1252728" y="2340864"/>
            <a:ext cx="9692640" cy="36576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Semantic vectors, BM25 term statistics, and a summary tree over each filing.</a:t>
            </a:r>
          </a:p>
        </p:txBody>
      </p:sp>
      <p:sp>
        <p:nvSpPr>
          <p:cNvPr id="10" name="TextBox 9"/>
          <p:cNvSpPr txBox="1"/>
          <p:nvPr/>
        </p:nvSpPr>
        <p:spPr>
          <a:xfrm>
            <a:off x="566928" y="2962656"/>
            <a:ext cx="548640" cy="365760"/>
          </a:xfrm>
          <a:prstGeom prst="rect">
            <a:avLst/>
          </a:prstGeom>
          <a:noFill/>
        </p:spPr>
        <p:txBody>
          <a:bodyPr wrap="square" lIns="0" tIns="0" rIns="0" bIns="0" anchor="t">
            <a:spAutoFit/>
          </a:bodyPr>
          <a:lstStyle/>
          <a:p>
            <a:pPr algn="l">
              <a:lnSpc>
                <a:spcPct val="115000"/>
              </a:lnSpc>
            </a:pPr>
            <a:r>
              <a:rPr sz="2000" b="1">
                <a:solidFill>
                  <a:srgbClr val="E2E8F0"/>
                </a:solidFill>
                <a:latin typeface="Consolas"/>
              </a:rPr>
              <a:t>02</a:t>
            </a:r>
          </a:p>
        </p:txBody>
      </p:sp>
      <p:sp>
        <p:nvSpPr>
          <p:cNvPr id="11" name="TextBox 10"/>
          <p:cNvSpPr txBox="1"/>
          <p:nvPr/>
        </p:nvSpPr>
        <p:spPr>
          <a:xfrm>
            <a:off x="1252728" y="2935224"/>
            <a:ext cx="1005840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Generate a benchmark with verified evidence</a:t>
            </a:r>
          </a:p>
        </p:txBody>
      </p:sp>
      <p:sp>
        <p:nvSpPr>
          <p:cNvPr id="12" name="TextBox 11"/>
          <p:cNvSpPr txBox="1"/>
          <p:nvPr/>
        </p:nvSpPr>
        <p:spPr>
          <a:xfrm>
            <a:off x="1252728" y="3273552"/>
            <a:ext cx="9692640" cy="36576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Two language models from different families propose and check every question.</a:t>
            </a:r>
          </a:p>
        </p:txBody>
      </p:sp>
      <p:sp>
        <p:nvSpPr>
          <p:cNvPr id="13" name="TextBox 12"/>
          <p:cNvSpPr txBox="1"/>
          <p:nvPr/>
        </p:nvSpPr>
        <p:spPr>
          <a:xfrm>
            <a:off x="566928" y="3895344"/>
            <a:ext cx="548640" cy="365760"/>
          </a:xfrm>
          <a:prstGeom prst="rect">
            <a:avLst/>
          </a:prstGeom>
          <a:noFill/>
        </p:spPr>
        <p:txBody>
          <a:bodyPr wrap="square" lIns="0" tIns="0" rIns="0" bIns="0" anchor="t">
            <a:spAutoFit/>
          </a:bodyPr>
          <a:lstStyle/>
          <a:p>
            <a:pPr algn="l">
              <a:lnSpc>
                <a:spcPct val="115000"/>
              </a:lnSpc>
            </a:pPr>
            <a:r>
              <a:rPr sz="2000" b="1">
                <a:solidFill>
                  <a:srgbClr val="E2E8F0"/>
                </a:solidFill>
                <a:latin typeface="Consolas"/>
              </a:rPr>
              <a:t>03</a:t>
            </a:r>
          </a:p>
        </p:txBody>
      </p:sp>
      <p:sp>
        <p:nvSpPr>
          <p:cNvPr id="14" name="TextBox 13"/>
          <p:cNvSpPr txBox="1"/>
          <p:nvPr/>
        </p:nvSpPr>
        <p:spPr>
          <a:xfrm>
            <a:off x="1252728" y="3867912"/>
            <a:ext cx="1005840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Measure retrieval, answer quality and cost separately</a:t>
            </a:r>
          </a:p>
        </p:txBody>
      </p:sp>
      <p:sp>
        <p:nvSpPr>
          <p:cNvPr id="15" name="TextBox 14"/>
          <p:cNvSpPr txBox="1"/>
          <p:nvPr/>
        </p:nvSpPr>
        <p:spPr>
          <a:xfrm>
            <a:off x="1252728" y="4206240"/>
            <a:ext cx="9692640" cy="36576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A paradigm can win on accuracy and lose on speed, so each metric stands on its own.</a:t>
            </a:r>
          </a:p>
        </p:txBody>
      </p:sp>
      <p:sp>
        <p:nvSpPr>
          <p:cNvPr id="16" name="TextBox 15"/>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3</a:t>
            </a:r>
          </a:p>
        </p:txBody>
      </p:sp>
      <p:sp>
        <p:nvSpPr>
          <p:cNvPr id="17" name="TextBox 16">
            <a:extLst>
              <a:ext uri="{FF2B5EF4-FFF2-40B4-BE49-F238E27FC236}">
                <a16:creationId xmlns:a16="http://schemas.microsoft.com/office/drawing/2014/main" id="{161A257E-200C-D41A-0C40-09742E8B35EA}"/>
              </a:ext>
            </a:extLst>
          </p:cNvPr>
          <p:cNvSpPr txBox="1"/>
          <p:nvPr/>
        </p:nvSpPr>
        <p:spPr>
          <a:xfrm>
            <a:off x="566928" y="6059483"/>
            <a:ext cx="9509760" cy="249877"/>
          </a:xfrm>
          <a:prstGeom prst="rect">
            <a:avLst/>
          </a:prstGeom>
          <a:noFill/>
        </p:spPr>
        <p:txBody>
          <a:bodyPr wrap="square" lIns="0" tIns="0" rIns="0" bIns="0" anchor="t">
            <a:spAutoFit/>
          </a:bodyPr>
          <a:lstStyle/>
          <a:p>
            <a:pPr>
              <a:lnSpc>
                <a:spcPct val="115000"/>
              </a:lnSpc>
            </a:pPr>
            <a:r>
              <a:rPr lang="en-GB" sz="1500">
                <a:solidFill>
                  <a:srgbClr val="EF4443"/>
                </a:solidFill>
              </a:rPr>
              <a:t>The question is still open. No figures in this presentation answers it*</a:t>
            </a:r>
            <a:endParaRPr sz="1500" b="0">
              <a:solidFill>
                <a:srgbClr val="EF4443"/>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475488"/>
            <a:ext cx="274320" cy="4445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4048"/>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DESIGN</a:t>
            </a:r>
          </a:p>
        </p:txBody>
      </p:sp>
      <p:sp>
        <p:nvSpPr>
          <p:cNvPr id="5" name="TextBox 4"/>
          <p:cNvSpPr txBox="1"/>
          <p:nvPr/>
        </p:nvSpPr>
        <p:spPr>
          <a:xfrm>
            <a:off x="566928" y="694944"/>
            <a:ext cx="11057839" cy="548640"/>
          </a:xfrm>
          <a:prstGeom prst="rect">
            <a:avLst/>
          </a:prstGeom>
          <a:noFill/>
        </p:spPr>
        <p:txBody>
          <a:bodyPr wrap="square" lIns="0" tIns="0" rIns="0" bIns="0" anchor="t">
            <a:spAutoFit/>
          </a:bodyPr>
          <a:lstStyle/>
          <a:p>
            <a:pPr algn="l">
              <a:lnSpc>
                <a:spcPct val="102000"/>
              </a:lnSpc>
            </a:pPr>
            <a:r>
              <a:rPr sz="2800" b="1">
                <a:solidFill>
                  <a:srgbClr val="0F172A"/>
                </a:solidFill>
                <a:latin typeface="Calibri"/>
              </a:rPr>
              <a:t>Everything after retrieval stays constant</a:t>
            </a:r>
          </a:p>
        </p:txBody>
      </p:sp>
      <p:pic>
        <p:nvPicPr>
          <p:cNvPr id="6" name="Picture 5" descr="01-high-level-overview.png"/>
          <p:cNvPicPr>
            <a:picLocks noChangeAspect="1"/>
          </p:cNvPicPr>
          <p:nvPr/>
        </p:nvPicPr>
        <p:blipFill>
          <a:blip r:embed="rId3"/>
          <a:stretch>
            <a:fillRect/>
          </a:stretch>
        </p:blipFill>
        <p:spPr>
          <a:xfrm>
            <a:off x="3015475" y="1298448"/>
            <a:ext cx="6160744" cy="5148072"/>
          </a:xfrm>
          <a:prstGeom prst="rect">
            <a:avLst/>
          </a:prstGeom>
        </p:spPr>
      </p:pic>
      <p:sp>
        <p:nvSpPr>
          <p:cNvPr id="7" name="TextBox 6"/>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475488"/>
            <a:ext cx="274320" cy="4445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384048"/>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THE VARIABLE UNDER TEST</a:t>
            </a:r>
          </a:p>
        </p:txBody>
      </p:sp>
      <p:sp>
        <p:nvSpPr>
          <p:cNvPr id="5" name="TextBox 4"/>
          <p:cNvSpPr txBox="1"/>
          <p:nvPr/>
        </p:nvSpPr>
        <p:spPr>
          <a:xfrm>
            <a:off x="566928" y="694944"/>
            <a:ext cx="11057839" cy="548640"/>
          </a:xfrm>
          <a:prstGeom prst="rect">
            <a:avLst/>
          </a:prstGeom>
          <a:noFill/>
        </p:spPr>
        <p:txBody>
          <a:bodyPr wrap="square" lIns="0" tIns="0" rIns="0" bIns="0" anchor="t">
            <a:spAutoFit/>
          </a:bodyPr>
          <a:lstStyle/>
          <a:p>
            <a:pPr algn="l">
              <a:lnSpc>
                <a:spcPct val="102000"/>
              </a:lnSpc>
            </a:pPr>
            <a:r>
              <a:rPr sz="2800" b="1">
                <a:solidFill>
                  <a:srgbClr val="0F172A"/>
                </a:solidFill>
                <a:latin typeface="Calibri"/>
              </a:rPr>
              <a:t>Each paradigm indexes a different property</a:t>
            </a:r>
          </a:p>
        </p:txBody>
      </p:sp>
      <p:pic>
        <p:nvPicPr>
          <p:cNvPr id="6" name="Picture 5" descr="08-paradigm-comparison.png"/>
          <p:cNvPicPr>
            <a:picLocks noChangeAspect="1"/>
          </p:cNvPicPr>
          <p:nvPr/>
        </p:nvPicPr>
        <p:blipFill>
          <a:blip r:embed="rId3"/>
          <a:stretch>
            <a:fillRect/>
          </a:stretch>
        </p:blipFill>
        <p:spPr>
          <a:xfrm>
            <a:off x="1575038" y="1298448"/>
            <a:ext cx="9041619" cy="5148072"/>
          </a:xfrm>
          <a:prstGeom prst="rect">
            <a:avLst/>
          </a:prstGeom>
        </p:spPr>
      </p:pic>
      <p:sp>
        <p:nvSpPr>
          <p:cNvPr id="7" name="TextBox 6"/>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FOUNDATIONS</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What the project pins down before running anything</a:t>
            </a:r>
          </a:p>
        </p:txBody>
      </p:sp>
      <p:sp>
        <p:nvSpPr>
          <p:cNvPr id="6" name="TextBox 5"/>
          <p:cNvSpPr txBox="1"/>
          <p:nvPr/>
        </p:nvSpPr>
        <p:spPr>
          <a:xfrm>
            <a:off x="566928" y="1572768"/>
            <a:ext cx="9509760" cy="548640"/>
          </a:xfrm>
          <a:prstGeom prst="rect">
            <a:avLst/>
          </a:prstGeom>
          <a:noFill/>
        </p:spPr>
        <p:txBody>
          <a:bodyPr wrap="square" lIns="0" tIns="0" rIns="0" bIns="0" anchor="t">
            <a:spAutoFit/>
          </a:bodyPr>
          <a:lstStyle/>
          <a:p>
            <a:pPr algn="l">
              <a:lnSpc>
                <a:spcPct val="115000"/>
              </a:lnSpc>
            </a:pPr>
            <a:r>
              <a:rPr sz="1500" b="0">
                <a:solidFill>
                  <a:srgbClr val="64748B"/>
                </a:solidFill>
                <a:latin typeface="Calibri"/>
              </a:rPr>
              <a:t>Scope, tests and reading, each settled with a number or a citation.</a:t>
            </a:r>
          </a:p>
        </p:txBody>
      </p:sp>
      <p:sp>
        <p:nvSpPr>
          <p:cNvPr id="7" name="Rectangle 6"/>
          <p:cNvSpPr/>
          <p:nvPr/>
        </p:nvSpPr>
        <p:spPr>
          <a:xfrm>
            <a:off x="566928" y="2029968"/>
            <a:ext cx="50800" cy="841248"/>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2029968"/>
            <a:ext cx="4480560" cy="640080"/>
          </a:xfrm>
          <a:prstGeom prst="rect">
            <a:avLst/>
          </a:prstGeom>
          <a:noFill/>
        </p:spPr>
        <p:txBody>
          <a:bodyPr wrap="square" lIns="0" tIns="0" rIns="0" bIns="0" anchor="t">
            <a:spAutoFit/>
          </a:bodyPr>
          <a:lstStyle/>
          <a:p>
            <a:pPr algn="l">
              <a:lnSpc>
                <a:spcPct val="115000"/>
              </a:lnSpc>
            </a:pPr>
            <a:r>
              <a:rPr sz="1600" b="1">
                <a:solidFill>
                  <a:srgbClr val="0F172A"/>
                </a:solidFill>
                <a:latin typeface="Calibri"/>
              </a:rPr>
              <a:t>The corpus carries a stated size</a:t>
            </a:r>
          </a:p>
        </p:txBody>
      </p:sp>
      <p:sp>
        <p:nvSpPr>
          <p:cNvPr id="9" name="TextBox 8"/>
          <p:cNvSpPr txBox="1"/>
          <p:nvPr/>
        </p:nvSpPr>
        <p:spPr>
          <a:xfrm>
            <a:off x="5596128" y="2029968"/>
            <a:ext cx="6035040" cy="82296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13 filings across 5 companies give 18,297 addressable nodes, counted rather than estimated.</a:t>
            </a:r>
          </a:p>
        </p:txBody>
      </p:sp>
      <p:sp>
        <p:nvSpPr>
          <p:cNvPr id="10" name="Rectangle 9"/>
          <p:cNvSpPr/>
          <p:nvPr/>
        </p:nvSpPr>
        <p:spPr>
          <a:xfrm>
            <a:off x="566928" y="3108960"/>
            <a:ext cx="50800" cy="841248"/>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3108960"/>
            <a:ext cx="4480560" cy="640080"/>
          </a:xfrm>
          <a:prstGeom prst="rect">
            <a:avLst/>
          </a:prstGeom>
          <a:noFill/>
        </p:spPr>
        <p:txBody>
          <a:bodyPr wrap="square" lIns="0" tIns="0" rIns="0" bIns="0" anchor="t">
            <a:spAutoFit/>
          </a:bodyPr>
          <a:lstStyle/>
          <a:p>
            <a:pPr algn="l">
              <a:lnSpc>
                <a:spcPct val="115000"/>
              </a:lnSpc>
            </a:pPr>
            <a:r>
              <a:rPr sz="1600" b="1">
                <a:solidFill>
                  <a:srgbClr val="0F172A"/>
                </a:solidFill>
                <a:latin typeface="Calibri"/>
              </a:rPr>
              <a:t>Tests cover every stage of the pipeline</a:t>
            </a:r>
          </a:p>
        </p:txBody>
      </p:sp>
      <p:sp>
        <p:nvSpPr>
          <p:cNvPr id="12" name="TextBox 11"/>
          <p:cNvSpPr txBox="1"/>
          <p:nvPr/>
        </p:nvSpPr>
        <p:spPr>
          <a:xfrm>
            <a:off x="5596128" y="3108960"/>
            <a:ext cx="6035040" cy="82296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339 tests cover ingestion, all three retrieval arms, dataset generation and the judge.</a:t>
            </a:r>
          </a:p>
        </p:txBody>
      </p:sp>
      <p:sp>
        <p:nvSpPr>
          <p:cNvPr id="13" name="Rectangle 12"/>
          <p:cNvSpPr/>
          <p:nvPr/>
        </p:nvSpPr>
        <p:spPr>
          <a:xfrm>
            <a:off x="566928" y="4187952"/>
            <a:ext cx="50800"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4187952"/>
            <a:ext cx="4480560" cy="640080"/>
          </a:xfrm>
          <a:prstGeom prst="rect">
            <a:avLst/>
          </a:prstGeom>
          <a:noFill/>
        </p:spPr>
        <p:txBody>
          <a:bodyPr wrap="square" lIns="0" tIns="0" rIns="0" bIns="0" anchor="t">
            <a:spAutoFit/>
          </a:bodyPr>
          <a:lstStyle/>
          <a:p>
            <a:pPr algn="l">
              <a:lnSpc>
                <a:spcPct val="115000"/>
              </a:lnSpc>
            </a:pPr>
            <a:r>
              <a:rPr sz="1600" b="1">
                <a:solidFill>
                  <a:srgbClr val="0F172A"/>
                </a:solidFill>
                <a:latin typeface="Calibri"/>
              </a:rPr>
              <a:t>The review includes financial question answering</a:t>
            </a:r>
          </a:p>
        </p:txBody>
      </p:sp>
      <p:sp>
        <p:nvSpPr>
          <p:cNvPr id="15" name="TextBox 14"/>
          <p:cNvSpPr txBox="1"/>
          <p:nvPr/>
        </p:nvSpPr>
        <p:spPr>
          <a:xfrm>
            <a:off x="5596128" y="4187952"/>
            <a:ext cx="6035040" cy="82296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FinQA (Chen et al., 2021) studies question answering over financial filings. The dissertation widens this section.</a:t>
            </a:r>
          </a:p>
        </p:txBody>
      </p:sp>
      <p:sp>
        <p:nvSpPr>
          <p:cNvPr id="16" name="TextBox 15"/>
          <p:cNvSpPr txBox="1"/>
          <p:nvPr/>
        </p:nvSpPr>
        <p:spPr>
          <a:xfrm>
            <a:off x="566928" y="5715000"/>
            <a:ext cx="10881360" cy="457200"/>
          </a:xfrm>
          <a:prstGeom prst="rect">
            <a:avLst/>
          </a:prstGeom>
          <a:noFill/>
        </p:spPr>
        <p:txBody>
          <a:bodyPr wrap="square" lIns="0" tIns="0" rIns="0" bIns="0" anchor="t">
            <a:spAutoFit/>
          </a:bodyPr>
          <a:lstStyle/>
          <a:p>
            <a:pPr algn="l">
              <a:lnSpc>
                <a:spcPct val="115000"/>
              </a:lnSpc>
            </a:pPr>
            <a:r>
              <a:rPr sz="1300" b="1">
                <a:solidFill>
                  <a:srgbClr val="0F172A"/>
                </a:solidFill>
                <a:latin typeface="Calibri"/>
              </a:rPr>
              <a:t>The rest of this video shows the software running.</a:t>
            </a:r>
          </a:p>
        </p:txBody>
      </p:sp>
      <p:sp>
        <p:nvSpPr>
          <p:cNvPr id="17" name="TextBox 16"/>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STATUS</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Six phases stand complete. The benchmark has not run.</a:t>
            </a:r>
          </a:p>
        </p:txBody>
      </p:sp>
      <p:sp>
        <p:nvSpPr>
          <p:cNvPr id="6" name="TextBox 5"/>
          <p:cNvSpPr txBox="1"/>
          <p:nvPr/>
        </p:nvSpPr>
        <p:spPr>
          <a:xfrm>
            <a:off x="566928" y="1572768"/>
            <a:ext cx="9509760" cy="548640"/>
          </a:xfrm>
          <a:prstGeom prst="rect">
            <a:avLst/>
          </a:prstGeom>
          <a:noFill/>
        </p:spPr>
        <p:txBody>
          <a:bodyPr wrap="square" lIns="0" tIns="0" rIns="0" bIns="0" anchor="t">
            <a:spAutoFit/>
          </a:bodyPr>
          <a:lstStyle/>
          <a:p>
            <a:pPr algn="l">
              <a:lnSpc>
                <a:spcPct val="115000"/>
              </a:lnSpc>
            </a:pPr>
            <a:r>
              <a:rPr sz="1500" b="0">
                <a:solidFill>
                  <a:srgbClr val="64748B"/>
                </a:solidFill>
                <a:latin typeface="Calibri"/>
              </a:rPr>
              <a:t>Verified against the repository, the test suite and the database on 20 August 2026.</a:t>
            </a:r>
          </a:p>
        </p:txBody>
      </p:sp>
      <p:sp>
        <p:nvSpPr>
          <p:cNvPr id="7" name="Rectangle 6"/>
          <p:cNvSpPr/>
          <p:nvPr/>
        </p:nvSpPr>
        <p:spPr>
          <a:xfrm>
            <a:off x="566928" y="2029968"/>
            <a:ext cx="2079894"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2176272"/>
            <a:ext cx="2079894" cy="457200"/>
          </a:xfrm>
          <a:prstGeom prst="rect">
            <a:avLst/>
          </a:prstGeom>
          <a:noFill/>
        </p:spPr>
        <p:txBody>
          <a:bodyPr wrap="square" lIns="0" tIns="0" rIns="0" bIns="0" anchor="t">
            <a:spAutoFit/>
          </a:bodyPr>
          <a:lstStyle/>
          <a:p>
            <a:pPr algn="l">
              <a:lnSpc>
                <a:spcPct val="100000"/>
              </a:lnSpc>
            </a:pPr>
            <a:r>
              <a:rPr sz="3000" b="1">
                <a:solidFill>
                  <a:srgbClr val="22C55E"/>
                </a:solidFill>
                <a:latin typeface="Consolas"/>
              </a:rPr>
              <a:t>339</a:t>
            </a:r>
          </a:p>
        </p:txBody>
      </p:sp>
      <p:sp>
        <p:nvSpPr>
          <p:cNvPr id="9" name="TextBox 8"/>
          <p:cNvSpPr txBox="1"/>
          <p:nvPr/>
        </p:nvSpPr>
        <p:spPr>
          <a:xfrm>
            <a:off x="566928" y="2670048"/>
            <a:ext cx="2079894"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TESTS PASSING</a:t>
            </a:r>
          </a:p>
        </p:txBody>
      </p:sp>
      <p:sp>
        <p:nvSpPr>
          <p:cNvPr id="10" name="Rectangle 9"/>
          <p:cNvSpPr/>
          <p:nvPr/>
        </p:nvSpPr>
        <p:spPr>
          <a:xfrm>
            <a:off x="2811414" y="2029968"/>
            <a:ext cx="2079894"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11414" y="2176272"/>
            <a:ext cx="2079894" cy="457200"/>
          </a:xfrm>
          <a:prstGeom prst="rect">
            <a:avLst/>
          </a:prstGeom>
          <a:noFill/>
        </p:spPr>
        <p:txBody>
          <a:bodyPr wrap="square" lIns="0" tIns="0" rIns="0" bIns="0" anchor="t">
            <a:spAutoFit/>
          </a:bodyPr>
          <a:lstStyle/>
          <a:p>
            <a:pPr algn="l">
              <a:lnSpc>
                <a:spcPct val="100000"/>
              </a:lnSpc>
            </a:pPr>
            <a:r>
              <a:rPr sz="3000" b="1">
                <a:solidFill>
                  <a:srgbClr val="22C55E"/>
                </a:solidFill>
                <a:latin typeface="Consolas"/>
              </a:rPr>
              <a:t>13</a:t>
            </a:r>
          </a:p>
        </p:txBody>
      </p:sp>
      <p:sp>
        <p:nvSpPr>
          <p:cNvPr id="12" name="TextBox 11"/>
          <p:cNvSpPr txBox="1"/>
          <p:nvPr/>
        </p:nvSpPr>
        <p:spPr>
          <a:xfrm>
            <a:off x="2811414" y="2670048"/>
            <a:ext cx="2079894"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FILINGS INGESTED</a:t>
            </a:r>
          </a:p>
        </p:txBody>
      </p:sp>
      <p:sp>
        <p:nvSpPr>
          <p:cNvPr id="13" name="Rectangle 12"/>
          <p:cNvSpPr/>
          <p:nvPr/>
        </p:nvSpPr>
        <p:spPr>
          <a:xfrm>
            <a:off x="5055900" y="2029968"/>
            <a:ext cx="2079894"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55900" y="2176272"/>
            <a:ext cx="2079894" cy="457200"/>
          </a:xfrm>
          <a:prstGeom prst="rect">
            <a:avLst/>
          </a:prstGeom>
          <a:noFill/>
        </p:spPr>
        <p:txBody>
          <a:bodyPr wrap="square" lIns="0" tIns="0" rIns="0" bIns="0" anchor="t">
            <a:spAutoFit/>
          </a:bodyPr>
          <a:lstStyle/>
          <a:p>
            <a:pPr algn="l">
              <a:lnSpc>
                <a:spcPct val="100000"/>
              </a:lnSpc>
            </a:pPr>
            <a:r>
              <a:rPr sz="3000" b="1">
                <a:solidFill>
                  <a:srgbClr val="22C55E"/>
                </a:solidFill>
                <a:latin typeface="Consolas"/>
              </a:rPr>
              <a:t>140</a:t>
            </a:r>
          </a:p>
        </p:txBody>
      </p:sp>
      <p:sp>
        <p:nvSpPr>
          <p:cNvPr id="15" name="TextBox 14"/>
          <p:cNvSpPr txBox="1"/>
          <p:nvPr/>
        </p:nvSpPr>
        <p:spPr>
          <a:xfrm>
            <a:off x="5055900" y="2670048"/>
            <a:ext cx="2079894"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QUESTIONS GENERATED</a:t>
            </a:r>
          </a:p>
        </p:txBody>
      </p:sp>
      <p:sp>
        <p:nvSpPr>
          <p:cNvPr id="16" name="Rectangle 15"/>
          <p:cNvSpPr/>
          <p:nvPr/>
        </p:nvSpPr>
        <p:spPr>
          <a:xfrm>
            <a:off x="7300386" y="2029968"/>
            <a:ext cx="2079894"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00386" y="2176272"/>
            <a:ext cx="2079894" cy="457200"/>
          </a:xfrm>
          <a:prstGeom prst="rect">
            <a:avLst/>
          </a:prstGeom>
          <a:noFill/>
        </p:spPr>
        <p:txBody>
          <a:bodyPr wrap="square" lIns="0" tIns="0" rIns="0" bIns="0" anchor="t">
            <a:spAutoFit/>
          </a:bodyPr>
          <a:lstStyle/>
          <a:p>
            <a:pPr algn="l">
              <a:lnSpc>
                <a:spcPct val="100000"/>
              </a:lnSpc>
            </a:pPr>
            <a:r>
              <a:rPr sz="3000" b="1">
                <a:solidFill>
                  <a:srgbClr val="EF4444"/>
                </a:solidFill>
                <a:latin typeface="Consolas"/>
              </a:rPr>
              <a:t>0</a:t>
            </a:r>
          </a:p>
        </p:txBody>
      </p:sp>
      <p:sp>
        <p:nvSpPr>
          <p:cNvPr id="18" name="TextBox 17"/>
          <p:cNvSpPr txBox="1"/>
          <p:nvPr/>
        </p:nvSpPr>
        <p:spPr>
          <a:xfrm>
            <a:off x="7300386" y="2670048"/>
            <a:ext cx="2079894"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BENCHMARK ROWS</a:t>
            </a:r>
          </a:p>
        </p:txBody>
      </p:sp>
      <p:sp>
        <p:nvSpPr>
          <p:cNvPr id="19" name="Rectangle 18"/>
          <p:cNvSpPr/>
          <p:nvPr/>
        </p:nvSpPr>
        <p:spPr>
          <a:xfrm>
            <a:off x="9544872" y="2029968"/>
            <a:ext cx="2079894"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44872" y="2176272"/>
            <a:ext cx="2079894" cy="457200"/>
          </a:xfrm>
          <a:prstGeom prst="rect">
            <a:avLst/>
          </a:prstGeom>
          <a:noFill/>
        </p:spPr>
        <p:txBody>
          <a:bodyPr wrap="square" lIns="0" tIns="0" rIns="0" bIns="0" anchor="t">
            <a:spAutoFit/>
          </a:bodyPr>
          <a:lstStyle/>
          <a:p>
            <a:pPr algn="l">
              <a:lnSpc>
                <a:spcPct val="100000"/>
              </a:lnSpc>
            </a:pPr>
            <a:r>
              <a:rPr sz="3000" b="1">
                <a:solidFill>
                  <a:srgbClr val="EF4444"/>
                </a:solidFill>
                <a:latin typeface="Consolas"/>
              </a:rPr>
              <a:t>20</a:t>
            </a:r>
          </a:p>
        </p:txBody>
      </p:sp>
      <p:sp>
        <p:nvSpPr>
          <p:cNvPr id="21" name="TextBox 20"/>
          <p:cNvSpPr txBox="1"/>
          <p:nvPr/>
        </p:nvSpPr>
        <p:spPr>
          <a:xfrm>
            <a:off x="9544872" y="2670048"/>
            <a:ext cx="2079894" cy="36576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LABELS OUTSTANDING</a:t>
            </a:r>
          </a:p>
        </p:txBody>
      </p:sp>
      <p:sp>
        <p:nvSpPr>
          <p:cNvPr id="22" name="TextBox 21"/>
          <p:cNvSpPr txBox="1"/>
          <p:nvPr/>
        </p:nvSpPr>
        <p:spPr>
          <a:xfrm>
            <a:off x="566928" y="3611880"/>
            <a:ext cx="512064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Built and tested</a:t>
            </a:r>
          </a:p>
        </p:txBody>
      </p:sp>
      <p:sp>
        <p:nvSpPr>
          <p:cNvPr id="23" name="TextBox 22"/>
          <p:cNvSpPr txBox="1"/>
          <p:nvPr/>
        </p:nvSpPr>
        <p:spPr>
          <a:xfrm>
            <a:off x="566928" y="3995928"/>
            <a:ext cx="4937760" cy="164592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Ingestion and parsing, all three retrieval pipelines, adversarial dataset generation, and the judge with its metrics.</a:t>
            </a:r>
          </a:p>
        </p:txBody>
      </p:sp>
      <p:sp>
        <p:nvSpPr>
          <p:cNvPr id="24" name="TextBox 23"/>
          <p:cNvSpPr txBox="1"/>
          <p:nvPr/>
        </p:nvSpPr>
        <p:spPr>
          <a:xfrm>
            <a:off x="6327648" y="3611880"/>
            <a:ext cx="512064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Blocking the benchmark</a:t>
            </a:r>
          </a:p>
        </p:txBody>
      </p:sp>
      <p:sp>
        <p:nvSpPr>
          <p:cNvPr id="25" name="TextBox 24"/>
          <p:cNvSpPr txBox="1"/>
          <p:nvPr/>
        </p:nvSpPr>
        <p:spPr>
          <a:xfrm>
            <a:off x="6327648" y="3995928"/>
            <a:ext cx="4937760" cy="164592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Twenty golden questions still need hand-labelling, and the judge still needs to clear human scoring, before the 900-run benchmark can start.</a:t>
            </a:r>
          </a:p>
        </p:txBody>
      </p:sp>
      <p:sp>
        <p:nvSpPr>
          <p:cNvPr id="26" name="Rectangle 25"/>
          <p:cNvSpPr/>
          <p:nvPr/>
        </p:nvSpPr>
        <p:spPr>
          <a:xfrm>
            <a:off x="566928" y="5532120"/>
            <a:ext cx="11057839"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5733288"/>
            <a:ext cx="10881360" cy="365760"/>
          </a:xfrm>
          <a:prstGeom prst="rect">
            <a:avLst/>
          </a:prstGeom>
          <a:noFill/>
        </p:spPr>
        <p:txBody>
          <a:bodyPr wrap="square" lIns="0" tIns="0" rIns="0" bIns="0" anchor="t">
            <a:spAutoFit/>
          </a:bodyPr>
          <a:lstStyle/>
          <a:p>
            <a:pPr algn="l">
              <a:lnSpc>
                <a:spcPct val="115000"/>
              </a:lnSpc>
            </a:pPr>
            <a:r>
              <a:rPr sz="1400" b="1">
                <a:solidFill>
                  <a:srgbClr val="0F172A"/>
                </a:solidFill>
                <a:latin typeface="Calibri"/>
              </a:rPr>
              <a:t>The results table holds zero rows because the executor has never run. Every other number here comes from the live database.</a:t>
            </a:r>
          </a:p>
        </p:txBody>
      </p:sp>
      <p:sp>
        <p:nvSpPr>
          <p:cNvPr id="28" name="TextBox 27"/>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2103120"/>
            <a:ext cx="1371600" cy="635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423160"/>
            <a:ext cx="10424160" cy="822960"/>
          </a:xfrm>
          <a:prstGeom prst="rect">
            <a:avLst/>
          </a:prstGeom>
          <a:noFill/>
        </p:spPr>
        <p:txBody>
          <a:bodyPr wrap="square" lIns="0" tIns="0" rIns="0" bIns="0" anchor="t">
            <a:spAutoFit/>
          </a:bodyPr>
          <a:lstStyle/>
          <a:p>
            <a:pPr algn="l">
              <a:lnSpc>
                <a:spcPct val="115000"/>
              </a:lnSpc>
            </a:pPr>
            <a:r>
              <a:rPr sz="4000" b="1">
                <a:solidFill>
                  <a:srgbClr val="0F172A"/>
                </a:solidFill>
                <a:latin typeface="Calibri"/>
              </a:rPr>
              <a:t>Now, the software in use</a:t>
            </a:r>
          </a:p>
        </p:txBody>
      </p:sp>
      <p:sp>
        <p:nvSpPr>
          <p:cNvPr id="5" name="TextBox 4"/>
          <p:cNvSpPr txBox="1"/>
          <p:nvPr/>
        </p:nvSpPr>
        <p:spPr>
          <a:xfrm>
            <a:off x="566928" y="3611880"/>
            <a:ext cx="2377440" cy="32004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Source code</a:t>
            </a:r>
          </a:p>
        </p:txBody>
      </p:sp>
      <p:sp>
        <p:nvSpPr>
          <p:cNvPr id="6" name="TextBox 5"/>
          <p:cNvSpPr txBox="1"/>
          <p:nvPr/>
        </p:nvSpPr>
        <p:spPr>
          <a:xfrm>
            <a:off x="3127248" y="3611880"/>
            <a:ext cx="7863840" cy="320040"/>
          </a:xfrm>
          <a:prstGeom prst="rect">
            <a:avLst/>
          </a:prstGeom>
          <a:noFill/>
        </p:spPr>
        <p:txBody>
          <a:bodyPr wrap="square" lIns="0" tIns="0" rIns="0" bIns="0" anchor="t">
            <a:spAutoFit/>
          </a:bodyPr>
          <a:lstStyle/>
          <a:p>
            <a:pPr algn="l">
              <a:lnSpc>
                <a:spcPct val="115000"/>
              </a:lnSpc>
            </a:pPr>
            <a:r>
              <a:rPr sz="1400" b="0">
                <a:solidFill>
                  <a:srgbClr val="64748B"/>
                </a:solidFill>
                <a:latin typeface="Calibri"/>
              </a:rPr>
              <a:t>the BM25 tokeniser, the structural retriever, the answerer</a:t>
            </a:r>
          </a:p>
        </p:txBody>
      </p:sp>
      <p:sp>
        <p:nvSpPr>
          <p:cNvPr id="7" name="TextBox 6"/>
          <p:cNvSpPr txBox="1"/>
          <p:nvPr/>
        </p:nvSpPr>
        <p:spPr>
          <a:xfrm>
            <a:off x="566928" y="4087368"/>
            <a:ext cx="2377440" cy="32004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A live comparison</a:t>
            </a:r>
          </a:p>
        </p:txBody>
      </p:sp>
      <p:sp>
        <p:nvSpPr>
          <p:cNvPr id="8" name="TextBox 7"/>
          <p:cNvSpPr txBox="1"/>
          <p:nvPr/>
        </p:nvSpPr>
        <p:spPr>
          <a:xfrm>
            <a:off x="3127248" y="4087368"/>
            <a:ext cx="7863840" cy="320040"/>
          </a:xfrm>
          <a:prstGeom prst="rect">
            <a:avLst/>
          </a:prstGeom>
          <a:noFill/>
        </p:spPr>
        <p:txBody>
          <a:bodyPr wrap="square" lIns="0" tIns="0" rIns="0" bIns="0" anchor="t">
            <a:spAutoFit/>
          </a:bodyPr>
          <a:lstStyle/>
          <a:p>
            <a:pPr algn="l">
              <a:lnSpc>
                <a:spcPct val="115000"/>
              </a:lnSpc>
            </a:pPr>
            <a:r>
              <a:rPr sz="1400" b="0">
                <a:solidFill>
                  <a:srgbClr val="64748B"/>
                </a:solidFill>
                <a:latin typeface="Calibri"/>
              </a:rPr>
              <a:t>one question through all three pipelines at K = 3</a:t>
            </a:r>
          </a:p>
        </p:txBody>
      </p:sp>
      <p:sp>
        <p:nvSpPr>
          <p:cNvPr id="9" name="TextBox 8"/>
          <p:cNvSpPr txBox="1"/>
          <p:nvPr/>
        </p:nvSpPr>
        <p:spPr>
          <a:xfrm>
            <a:off x="566928" y="4562856"/>
            <a:ext cx="2377440" cy="32004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The database</a:t>
            </a:r>
          </a:p>
        </p:txBody>
      </p:sp>
      <p:sp>
        <p:nvSpPr>
          <p:cNvPr id="10" name="TextBox 9"/>
          <p:cNvSpPr txBox="1"/>
          <p:nvPr/>
        </p:nvSpPr>
        <p:spPr>
          <a:xfrm>
            <a:off x="3127248" y="4562856"/>
            <a:ext cx="7863840" cy="320040"/>
          </a:xfrm>
          <a:prstGeom prst="rect">
            <a:avLst/>
          </a:prstGeom>
          <a:noFill/>
        </p:spPr>
        <p:txBody>
          <a:bodyPr wrap="square" lIns="0" tIns="0" rIns="0" bIns="0" anchor="t">
            <a:spAutoFit/>
          </a:bodyPr>
          <a:lstStyle/>
          <a:p>
            <a:pPr algn="l">
              <a:lnSpc>
                <a:spcPct val="115000"/>
              </a:lnSpc>
            </a:pPr>
            <a:r>
              <a:rPr sz="1400" b="0">
                <a:solidFill>
                  <a:srgbClr val="64748B"/>
                </a:solidFill>
                <a:latin typeface="Calibri"/>
              </a:rPr>
              <a:t>live row counts behind every number in this deck</a:t>
            </a:r>
          </a:p>
        </p:txBody>
      </p:sp>
      <p:sp>
        <p:nvSpPr>
          <p:cNvPr id="11" name="TextBox 10"/>
          <p:cNvSpPr txBox="1"/>
          <p:nvPr/>
        </p:nvSpPr>
        <p:spPr>
          <a:xfrm>
            <a:off x="566928" y="5038344"/>
            <a:ext cx="2377440" cy="32004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The test suite</a:t>
            </a:r>
          </a:p>
        </p:txBody>
      </p:sp>
      <p:sp>
        <p:nvSpPr>
          <p:cNvPr id="12" name="TextBox 11"/>
          <p:cNvSpPr txBox="1"/>
          <p:nvPr/>
        </p:nvSpPr>
        <p:spPr>
          <a:xfrm>
            <a:off x="3127248" y="5038344"/>
            <a:ext cx="7863840" cy="320040"/>
          </a:xfrm>
          <a:prstGeom prst="rect">
            <a:avLst/>
          </a:prstGeom>
          <a:noFill/>
        </p:spPr>
        <p:txBody>
          <a:bodyPr wrap="square" lIns="0" tIns="0" rIns="0" bIns="0" anchor="t">
            <a:spAutoFit/>
          </a:bodyPr>
          <a:lstStyle/>
          <a:p>
            <a:pPr algn="l">
              <a:lnSpc>
                <a:spcPct val="115000"/>
              </a:lnSpc>
            </a:pPr>
            <a:r>
              <a:rPr sz="1400" b="0">
                <a:solidFill>
                  <a:srgbClr val="64748B"/>
                </a:solidFill>
                <a:latin typeface="Calibri"/>
              </a:rPr>
              <a:t>339 tests</a:t>
            </a:r>
          </a:p>
        </p:txBody>
      </p:sp>
      <p:sp>
        <p:nvSpPr>
          <p:cNvPr id="13" name="TextBox 12"/>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DEMO, MEASURED</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Same question, three different sets of evidence</a:t>
            </a:r>
          </a:p>
        </p:txBody>
      </p:sp>
      <p:sp>
        <p:nvSpPr>
          <p:cNvPr id="6" name="TextBox 5"/>
          <p:cNvSpPr txBox="1"/>
          <p:nvPr/>
        </p:nvSpPr>
        <p:spPr>
          <a:xfrm>
            <a:off x="566928" y="1572768"/>
            <a:ext cx="9509760" cy="548640"/>
          </a:xfrm>
          <a:prstGeom prst="rect">
            <a:avLst/>
          </a:prstGeom>
          <a:noFill/>
        </p:spPr>
        <p:txBody>
          <a:bodyPr wrap="square" lIns="0" tIns="0" rIns="0" bIns="0" anchor="t">
            <a:spAutoFit/>
          </a:bodyPr>
          <a:lstStyle/>
          <a:p>
            <a:pPr algn="l">
              <a:lnSpc>
                <a:spcPct val="115000"/>
              </a:lnSpc>
            </a:pPr>
            <a:r>
              <a:rPr sz="1500" b="0">
                <a:solidFill>
                  <a:srgbClr val="64748B"/>
                </a:solidFill>
                <a:latin typeface="Calibri"/>
              </a:rPr>
              <a:t>MSFT_2023, four questions, one per difficulty quadrant, K = 3. Retrieval only, run locally, zero API calls.</a:t>
            </a:r>
          </a:p>
        </p:txBody>
      </p:sp>
      <p:sp>
        <p:nvSpPr>
          <p:cNvPr id="7" name="TextBox 6"/>
          <p:cNvSpPr txBox="1"/>
          <p:nvPr/>
        </p:nvSpPr>
        <p:spPr>
          <a:xfrm>
            <a:off x="566928" y="2029968"/>
            <a:ext cx="2194560" cy="22860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PIPELINE</a:t>
            </a:r>
          </a:p>
        </p:txBody>
      </p:sp>
      <p:sp>
        <p:nvSpPr>
          <p:cNvPr id="8" name="TextBox 7"/>
          <p:cNvSpPr txBox="1"/>
          <p:nvPr/>
        </p:nvSpPr>
        <p:spPr>
          <a:xfrm>
            <a:off x="2944368" y="2029968"/>
            <a:ext cx="822960" cy="22860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P@3</a:t>
            </a:r>
          </a:p>
        </p:txBody>
      </p:sp>
      <p:sp>
        <p:nvSpPr>
          <p:cNvPr id="9" name="TextBox 8"/>
          <p:cNvSpPr txBox="1"/>
          <p:nvPr/>
        </p:nvSpPr>
        <p:spPr>
          <a:xfrm>
            <a:off x="3858768" y="2029968"/>
            <a:ext cx="822960" cy="22860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R@3</a:t>
            </a:r>
          </a:p>
        </p:txBody>
      </p:sp>
      <p:sp>
        <p:nvSpPr>
          <p:cNvPr id="10" name="TextBox 9"/>
          <p:cNvSpPr txBox="1"/>
          <p:nvPr/>
        </p:nvSpPr>
        <p:spPr>
          <a:xfrm>
            <a:off x="4773168" y="2029968"/>
            <a:ext cx="1097280" cy="22860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LATENCY</a:t>
            </a:r>
          </a:p>
        </p:txBody>
      </p:sp>
      <p:sp>
        <p:nvSpPr>
          <p:cNvPr id="11" name="TextBox 10"/>
          <p:cNvSpPr txBox="1"/>
          <p:nvPr/>
        </p:nvSpPr>
        <p:spPr>
          <a:xfrm>
            <a:off x="6053328" y="2029968"/>
            <a:ext cx="5577840" cy="228600"/>
          </a:xfrm>
          <a:prstGeom prst="rect">
            <a:avLst/>
          </a:prstGeom>
          <a:noFill/>
        </p:spPr>
        <p:txBody>
          <a:bodyPr wrap="square" lIns="0" tIns="0" rIns="0" bIns="0" anchor="t">
            <a:spAutoFit/>
          </a:bodyPr>
          <a:lstStyle/>
          <a:p>
            <a:pPr algn="l">
              <a:lnSpc>
                <a:spcPct val="115000"/>
              </a:lnSpc>
            </a:pPr>
            <a:r>
              <a:rPr sz="1000" b="1">
                <a:solidFill>
                  <a:srgbClr val="64748B"/>
                </a:solidFill>
                <a:latin typeface="Calibri"/>
              </a:rPr>
              <a:t>WHAT THE RUN SHOWED</a:t>
            </a:r>
          </a:p>
        </p:txBody>
      </p:sp>
      <p:sp>
        <p:nvSpPr>
          <p:cNvPr id="12" name="Rectangle 11"/>
          <p:cNvSpPr/>
          <p:nvPr/>
        </p:nvSpPr>
        <p:spPr>
          <a:xfrm>
            <a:off x="566928" y="2304288"/>
            <a:ext cx="1105783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2468880"/>
            <a:ext cx="38100" cy="27432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2450592"/>
            <a:ext cx="2103120"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P1  semantic</a:t>
            </a:r>
          </a:p>
        </p:txBody>
      </p:sp>
      <p:sp>
        <p:nvSpPr>
          <p:cNvPr id="15" name="TextBox 14"/>
          <p:cNvSpPr txBox="1"/>
          <p:nvPr/>
        </p:nvSpPr>
        <p:spPr>
          <a:xfrm>
            <a:off x="2944368" y="2450592"/>
            <a:ext cx="1005840" cy="274320"/>
          </a:xfrm>
          <a:prstGeom prst="rect">
            <a:avLst/>
          </a:prstGeom>
          <a:noFill/>
        </p:spPr>
        <p:txBody>
          <a:bodyPr wrap="square" lIns="0" tIns="0" rIns="0" bIns="0" anchor="t">
            <a:spAutoFit/>
          </a:bodyPr>
          <a:lstStyle/>
          <a:p>
            <a:pPr algn="l">
              <a:lnSpc>
                <a:spcPct val="115000"/>
              </a:lnSpc>
            </a:pPr>
            <a:r>
              <a:rPr sz="1600" b="1">
                <a:solidFill>
                  <a:srgbClr val="0EA5E9"/>
                </a:solidFill>
                <a:latin typeface="Consolas"/>
              </a:rPr>
              <a:t>0.42</a:t>
            </a:r>
          </a:p>
        </p:txBody>
      </p:sp>
      <p:sp>
        <p:nvSpPr>
          <p:cNvPr id="16" name="TextBox 15"/>
          <p:cNvSpPr txBox="1"/>
          <p:nvPr/>
        </p:nvSpPr>
        <p:spPr>
          <a:xfrm>
            <a:off x="3858768" y="2450592"/>
            <a:ext cx="1005840" cy="274320"/>
          </a:xfrm>
          <a:prstGeom prst="rect">
            <a:avLst/>
          </a:prstGeom>
          <a:noFill/>
        </p:spPr>
        <p:txBody>
          <a:bodyPr wrap="square" lIns="0" tIns="0" rIns="0" bIns="0" anchor="t">
            <a:spAutoFit/>
          </a:bodyPr>
          <a:lstStyle/>
          <a:p>
            <a:pPr algn="l">
              <a:lnSpc>
                <a:spcPct val="115000"/>
              </a:lnSpc>
            </a:pPr>
            <a:r>
              <a:rPr sz="1600" b="1">
                <a:solidFill>
                  <a:srgbClr val="0EA5E9"/>
                </a:solidFill>
                <a:latin typeface="Consolas"/>
              </a:rPr>
              <a:t>0.69</a:t>
            </a:r>
          </a:p>
        </p:txBody>
      </p:sp>
      <p:sp>
        <p:nvSpPr>
          <p:cNvPr id="17" name="TextBox 16"/>
          <p:cNvSpPr txBox="1"/>
          <p:nvPr/>
        </p:nvSpPr>
        <p:spPr>
          <a:xfrm>
            <a:off x="4773168" y="2450592"/>
            <a:ext cx="1005840" cy="274320"/>
          </a:xfrm>
          <a:prstGeom prst="rect">
            <a:avLst/>
          </a:prstGeom>
          <a:noFill/>
        </p:spPr>
        <p:txBody>
          <a:bodyPr wrap="square" lIns="0" tIns="0" rIns="0" bIns="0" anchor="t">
            <a:spAutoFit/>
          </a:bodyPr>
          <a:lstStyle/>
          <a:p>
            <a:pPr algn="l">
              <a:lnSpc>
                <a:spcPct val="115000"/>
              </a:lnSpc>
            </a:pPr>
            <a:r>
              <a:rPr sz="1600" b="1">
                <a:solidFill>
                  <a:srgbClr val="0EA5E9"/>
                </a:solidFill>
                <a:latin typeface="Consolas"/>
              </a:rPr>
              <a:t>5.34s</a:t>
            </a:r>
          </a:p>
        </p:txBody>
      </p:sp>
      <p:sp>
        <p:nvSpPr>
          <p:cNvPr id="18" name="TextBox 17"/>
          <p:cNvSpPr txBox="1"/>
          <p:nvPr/>
        </p:nvSpPr>
        <p:spPr>
          <a:xfrm>
            <a:off x="6053328" y="2487168"/>
            <a:ext cx="5577840" cy="274320"/>
          </a:xfrm>
          <a:prstGeom prst="rect">
            <a:avLst/>
          </a:prstGeom>
          <a:noFill/>
        </p:spPr>
        <p:txBody>
          <a:bodyPr wrap="square" lIns="0" tIns="0" rIns="0" bIns="0" anchor="t">
            <a:spAutoFit/>
          </a:bodyPr>
          <a:lstStyle/>
          <a:p>
            <a:pPr algn="l">
              <a:lnSpc>
                <a:spcPct val="115000"/>
              </a:lnSpc>
            </a:pPr>
            <a:r>
              <a:rPr sz="1250" b="0">
                <a:solidFill>
                  <a:srgbClr val="64748B"/>
                </a:solidFill>
                <a:latin typeface="Calibri"/>
              </a:rPr>
              <a:t>Found the evidence every time. The rerank is what costs the five seconds.</a:t>
            </a:r>
          </a:p>
        </p:txBody>
      </p:sp>
      <p:sp>
        <p:nvSpPr>
          <p:cNvPr id="19" name="Rectangle 18"/>
          <p:cNvSpPr/>
          <p:nvPr/>
        </p:nvSpPr>
        <p:spPr>
          <a:xfrm>
            <a:off x="566928" y="2871216"/>
            <a:ext cx="11057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3054096"/>
            <a:ext cx="3810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3035808"/>
            <a:ext cx="2103120"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P2  statistical</a:t>
            </a:r>
          </a:p>
        </p:txBody>
      </p:sp>
      <p:sp>
        <p:nvSpPr>
          <p:cNvPr id="22" name="TextBox 21"/>
          <p:cNvSpPr txBox="1"/>
          <p:nvPr/>
        </p:nvSpPr>
        <p:spPr>
          <a:xfrm>
            <a:off x="2944368" y="3035808"/>
            <a:ext cx="1005840" cy="274320"/>
          </a:xfrm>
          <a:prstGeom prst="rect">
            <a:avLst/>
          </a:prstGeom>
          <a:noFill/>
        </p:spPr>
        <p:txBody>
          <a:bodyPr wrap="square" lIns="0" tIns="0" rIns="0" bIns="0" anchor="t">
            <a:spAutoFit/>
          </a:bodyPr>
          <a:lstStyle/>
          <a:p>
            <a:pPr algn="l">
              <a:lnSpc>
                <a:spcPct val="115000"/>
              </a:lnSpc>
            </a:pPr>
            <a:r>
              <a:rPr sz="1600" b="1">
                <a:solidFill>
                  <a:srgbClr val="10B981"/>
                </a:solidFill>
                <a:latin typeface="Consolas"/>
              </a:rPr>
              <a:t>0.50</a:t>
            </a:r>
          </a:p>
        </p:txBody>
      </p:sp>
      <p:sp>
        <p:nvSpPr>
          <p:cNvPr id="23" name="TextBox 22"/>
          <p:cNvSpPr txBox="1"/>
          <p:nvPr/>
        </p:nvSpPr>
        <p:spPr>
          <a:xfrm>
            <a:off x="3858768" y="3035808"/>
            <a:ext cx="1005840" cy="274320"/>
          </a:xfrm>
          <a:prstGeom prst="rect">
            <a:avLst/>
          </a:prstGeom>
          <a:noFill/>
        </p:spPr>
        <p:txBody>
          <a:bodyPr wrap="square" lIns="0" tIns="0" rIns="0" bIns="0" anchor="t">
            <a:spAutoFit/>
          </a:bodyPr>
          <a:lstStyle/>
          <a:p>
            <a:pPr algn="l">
              <a:lnSpc>
                <a:spcPct val="115000"/>
              </a:lnSpc>
            </a:pPr>
            <a:r>
              <a:rPr sz="1600" b="1">
                <a:solidFill>
                  <a:srgbClr val="10B981"/>
                </a:solidFill>
                <a:latin typeface="Consolas"/>
              </a:rPr>
              <a:t>0.75</a:t>
            </a:r>
          </a:p>
        </p:txBody>
      </p:sp>
      <p:sp>
        <p:nvSpPr>
          <p:cNvPr id="24" name="TextBox 23"/>
          <p:cNvSpPr txBox="1"/>
          <p:nvPr/>
        </p:nvSpPr>
        <p:spPr>
          <a:xfrm>
            <a:off x="4773168" y="3035808"/>
            <a:ext cx="1005840" cy="274320"/>
          </a:xfrm>
          <a:prstGeom prst="rect">
            <a:avLst/>
          </a:prstGeom>
          <a:noFill/>
        </p:spPr>
        <p:txBody>
          <a:bodyPr wrap="square" lIns="0" tIns="0" rIns="0" bIns="0" anchor="t">
            <a:spAutoFit/>
          </a:bodyPr>
          <a:lstStyle/>
          <a:p>
            <a:pPr algn="l">
              <a:lnSpc>
                <a:spcPct val="115000"/>
              </a:lnSpc>
            </a:pPr>
            <a:r>
              <a:rPr sz="1600" b="1">
                <a:solidFill>
                  <a:srgbClr val="10B981"/>
                </a:solidFill>
                <a:latin typeface="Consolas"/>
              </a:rPr>
              <a:t>0.02s</a:t>
            </a:r>
          </a:p>
        </p:txBody>
      </p:sp>
      <p:sp>
        <p:nvSpPr>
          <p:cNvPr id="25" name="TextBox 24"/>
          <p:cNvSpPr txBox="1"/>
          <p:nvPr/>
        </p:nvSpPr>
        <p:spPr>
          <a:xfrm>
            <a:off x="6053328" y="3072384"/>
            <a:ext cx="5577840" cy="274320"/>
          </a:xfrm>
          <a:prstGeom prst="rect">
            <a:avLst/>
          </a:prstGeom>
          <a:noFill/>
        </p:spPr>
        <p:txBody>
          <a:bodyPr wrap="square" lIns="0" tIns="0" rIns="0" bIns="0" anchor="t">
            <a:spAutoFit/>
          </a:bodyPr>
          <a:lstStyle/>
          <a:p>
            <a:pPr algn="l">
              <a:lnSpc>
                <a:spcPct val="115000"/>
              </a:lnSpc>
            </a:pPr>
            <a:r>
              <a:rPr sz="1250" b="0">
                <a:solidFill>
                  <a:srgbClr val="64748B"/>
                </a:solidFill>
                <a:latin typeface="Calibri"/>
              </a:rPr>
              <a:t>Ahead here. Three of the four answers sit in tables, BM25's home ground.</a:t>
            </a:r>
          </a:p>
        </p:txBody>
      </p:sp>
      <p:sp>
        <p:nvSpPr>
          <p:cNvPr id="26" name="Rectangle 25"/>
          <p:cNvSpPr/>
          <p:nvPr/>
        </p:nvSpPr>
        <p:spPr>
          <a:xfrm>
            <a:off x="566928" y="3456432"/>
            <a:ext cx="11057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3639312"/>
            <a:ext cx="38100" cy="2743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3621024"/>
            <a:ext cx="2103120"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P3  structural</a:t>
            </a:r>
          </a:p>
        </p:txBody>
      </p:sp>
      <p:sp>
        <p:nvSpPr>
          <p:cNvPr id="29" name="TextBox 28"/>
          <p:cNvSpPr txBox="1"/>
          <p:nvPr/>
        </p:nvSpPr>
        <p:spPr>
          <a:xfrm>
            <a:off x="2944368" y="3621024"/>
            <a:ext cx="1005840" cy="274320"/>
          </a:xfrm>
          <a:prstGeom prst="rect">
            <a:avLst/>
          </a:prstGeom>
          <a:noFill/>
        </p:spPr>
        <p:txBody>
          <a:bodyPr wrap="square" lIns="0" tIns="0" rIns="0" bIns="0" anchor="t">
            <a:spAutoFit/>
          </a:bodyPr>
          <a:lstStyle/>
          <a:p>
            <a:pPr algn="l">
              <a:lnSpc>
                <a:spcPct val="115000"/>
              </a:lnSpc>
            </a:pPr>
            <a:r>
              <a:rPr sz="1600" b="1">
                <a:solidFill>
                  <a:srgbClr val="8B5CF6"/>
                </a:solidFill>
                <a:latin typeface="Consolas"/>
              </a:rPr>
              <a:t>0.00</a:t>
            </a:r>
          </a:p>
        </p:txBody>
      </p:sp>
      <p:sp>
        <p:nvSpPr>
          <p:cNvPr id="30" name="TextBox 29"/>
          <p:cNvSpPr txBox="1"/>
          <p:nvPr/>
        </p:nvSpPr>
        <p:spPr>
          <a:xfrm>
            <a:off x="3858768" y="3621024"/>
            <a:ext cx="1005840" cy="274320"/>
          </a:xfrm>
          <a:prstGeom prst="rect">
            <a:avLst/>
          </a:prstGeom>
          <a:noFill/>
        </p:spPr>
        <p:txBody>
          <a:bodyPr wrap="square" lIns="0" tIns="0" rIns="0" bIns="0" anchor="t">
            <a:spAutoFit/>
          </a:bodyPr>
          <a:lstStyle/>
          <a:p>
            <a:pPr algn="l">
              <a:lnSpc>
                <a:spcPct val="115000"/>
              </a:lnSpc>
            </a:pPr>
            <a:r>
              <a:rPr sz="1600" b="1">
                <a:solidFill>
                  <a:srgbClr val="8B5CF6"/>
                </a:solidFill>
                <a:latin typeface="Consolas"/>
              </a:rPr>
              <a:t>0.00</a:t>
            </a:r>
          </a:p>
        </p:txBody>
      </p:sp>
      <p:sp>
        <p:nvSpPr>
          <p:cNvPr id="31" name="TextBox 30"/>
          <p:cNvSpPr txBox="1"/>
          <p:nvPr/>
        </p:nvSpPr>
        <p:spPr>
          <a:xfrm>
            <a:off x="4773168" y="3621024"/>
            <a:ext cx="1005840" cy="274320"/>
          </a:xfrm>
          <a:prstGeom prst="rect">
            <a:avLst/>
          </a:prstGeom>
          <a:noFill/>
        </p:spPr>
        <p:txBody>
          <a:bodyPr wrap="square" lIns="0" tIns="0" rIns="0" bIns="0" anchor="t">
            <a:spAutoFit/>
          </a:bodyPr>
          <a:lstStyle/>
          <a:p>
            <a:pPr algn="l">
              <a:lnSpc>
                <a:spcPct val="115000"/>
              </a:lnSpc>
            </a:pPr>
            <a:r>
              <a:rPr sz="1600" b="1">
                <a:solidFill>
                  <a:srgbClr val="8B5CF6"/>
                </a:solidFill>
                <a:latin typeface="Consolas"/>
              </a:rPr>
              <a:t>4.24s</a:t>
            </a:r>
          </a:p>
        </p:txBody>
      </p:sp>
      <p:sp>
        <p:nvSpPr>
          <p:cNvPr id="32" name="TextBox 31"/>
          <p:cNvSpPr txBox="1"/>
          <p:nvPr/>
        </p:nvSpPr>
        <p:spPr>
          <a:xfrm>
            <a:off x="6053328" y="3657600"/>
            <a:ext cx="5577840" cy="274320"/>
          </a:xfrm>
          <a:prstGeom prst="rect">
            <a:avLst/>
          </a:prstGeom>
          <a:noFill/>
        </p:spPr>
        <p:txBody>
          <a:bodyPr wrap="square" lIns="0" tIns="0" rIns="0" bIns="0" anchor="t">
            <a:spAutoFit/>
          </a:bodyPr>
          <a:lstStyle/>
          <a:p>
            <a:pPr algn="l">
              <a:lnSpc>
                <a:spcPct val="115000"/>
              </a:lnSpc>
            </a:pPr>
            <a:r>
              <a:rPr sz="1250" b="0">
                <a:solidFill>
                  <a:srgbClr val="64748B"/>
                </a:solidFill>
                <a:latin typeface="Calibri"/>
              </a:rPr>
              <a:t>Returned real nodes, from the wrong section. It commits to a branch at the root.</a:t>
            </a:r>
          </a:p>
        </p:txBody>
      </p:sp>
      <p:sp>
        <p:nvSpPr>
          <p:cNvPr id="33" name="Rectangle 32"/>
          <p:cNvSpPr/>
          <p:nvPr/>
        </p:nvSpPr>
        <p:spPr>
          <a:xfrm>
            <a:off x="566928" y="4041648"/>
            <a:ext cx="110578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4315968"/>
            <a:ext cx="3442106"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480560"/>
            <a:ext cx="3442106"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Never all three agreed</a:t>
            </a:r>
          </a:p>
        </p:txBody>
      </p:sp>
      <p:sp>
        <p:nvSpPr>
          <p:cNvPr id="36" name="TextBox 35"/>
          <p:cNvSpPr txBox="1"/>
          <p:nvPr/>
        </p:nvSpPr>
        <p:spPr>
          <a:xfrm>
            <a:off x="566928" y="4846320"/>
            <a:ext cx="3442106" cy="731520"/>
          </a:xfrm>
          <a:prstGeom prst="rect">
            <a:avLst/>
          </a:prstGeom>
          <a:noFill/>
        </p:spPr>
        <p:txBody>
          <a:bodyPr wrap="square" lIns="0" tIns="0" rIns="0" bIns="0" anchor="t">
            <a:spAutoFit/>
          </a:bodyPr>
          <a:lstStyle/>
          <a:p>
            <a:pPr algn="l">
              <a:lnSpc>
                <a:spcPct val="130000"/>
              </a:lnSpc>
            </a:pPr>
            <a:r>
              <a:rPr sz="1250" b="0">
                <a:solidFill>
                  <a:srgbClr val="64748B"/>
                </a:solidFill>
                <a:latin typeface="Calibri"/>
              </a:rPr>
              <a:t>Seven or eight distinct nodes came back across nine slots, on every question.</a:t>
            </a:r>
          </a:p>
        </p:txBody>
      </p:sp>
      <p:sp>
        <p:nvSpPr>
          <p:cNvPr id="37" name="Rectangle 36"/>
          <p:cNvSpPr/>
          <p:nvPr/>
        </p:nvSpPr>
        <p:spPr>
          <a:xfrm>
            <a:off x="4374794" y="4315968"/>
            <a:ext cx="3442106" cy="381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374794" y="4480560"/>
            <a:ext cx="3442106"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P3's zero is its architecture</a:t>
            </a:r>
          </a:p>
        </p:txBody>
      </p:sp>
      <p:sp>
        <p:nvSpPr>
          <p:cNvPr id="39" name="TextBox 38"/>
          <p:cNvSpPr txBox="1"/>
          <p:nvPr/>
        </p:nvSpPr>
        <p:spPr>
          <a:xfrm>
            <a:off x="4374794" y="4846320"/>
            <a:ext cx="3442106" cy="731520"/>
          </a:xfrm>
          <a:prstGeom prst="rect">
            <a:avLst/>
          </a:prstGeom>
          <a:noFill/>
        </p:spPr>
        <p:txBody>
          <a:bodyPr wrap="square" lIns="0" tIns="0" rIns="0" bIns="0" anchor="t">
            <a:spAutoFit/>
          </a:bodyPr>
          <a:lstStyle/>
          <a:p>
            <a:pPr algn="l">
              <a:lnSpc>
                <a:spcPct val="130000"/>
              </a:lnSpc>
            </a:pPr>
            <a:r>
              <a:rPr sz="1250" b="0">
                <a:solidFill>
                  <a:srgbClr val="64748B"/>
                </a:solidFill>
                <a:latin typeface="Calibri"/>
              </a:rPr>
              <a:t>It chose the lease tables in Item 8 over the properties table in Item 2. A tree walk cannot reverse.</a:t>
            </a:r>
          </a:p>
        </p:txBody>
      </p:sp>
      <p:sp>
        <p:nvSpPr>
          <p:cNvPr id="40" name="Rectangle 39"/>
          <p:cNvSpPr/>
          <p:nvPr/>
        </p:nvSpPr>
        <p:spPr>
          <a:xfrm>
            <a:off x="8182660" y="4315968"/>
            <a:ext cx="3442106"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82660" y="4480560"/>
            <a:ext cx="3442106" cy="274320"/>
          </a:xfrm>
          <a:prstGeom prst="rect">
            <a:avLst/>
          </a:prstGeom>
          <a:noFill/>
        </p:spPr>
        <p:txBody>
          <a:bodyPr wrap="square" lIns="0" tIns="0" rIns="0" bIns="0" anchor="t">
            <a:spAutoFit/>
          </a:bodyPr>
          <a:lstStyle/>
          <a:p>
            <a:pPr algn="l">
              <a:lnSpc>
                <a:spcPct val="115000"/>
              </a:lnSpc>
            </a:pPr>
            <a:r>
              <a:rPr sz="1500" b="1">
                <a:solidFill>
                  <a:srgbClr val="0F172A"/>
                </a:solidFill>
                <a:latin typeface="Calibri"/>
              </a:rPr>
              <a:t>0.33 was the maximum possible</a:t>
            </a:r>
          </a:p>
        </p:txBody>
      </p:sp>
      <p:sp>
        <p:nvSpPr>
          <p:cNvPr id="42" name="TextBox 41"/>
          <p:cNvSpPr txBox="1"/>
          <p:nvPr/>
        </p:nvSpPr>
        <p:spPr>
          <a:xfrm>
            <a:off x="8182660" y="4846320"/>
            <a:ext cx="3442106" cy="731520"/>
          </a:xfrm>
          <a:prstGeom prst="rect">
            <a:avLst/>
          </a:prstGeom>
          <a:noFill/>
        </p:spPr>
        <p:txBody>
          <a:bodyPr wrap="square" lIns="0" tIns="0" rIns="0" bIns="0" anchor="t">
            <a:spAutoFit/>
          </a:bodyPr>
          <a:lstStyle/>
          <a:p>
            <a:pPr algn="l">
              <a:lnSpc>
                <a:spcPct val="130000"/>
              </a:lnSpc>
            </a:pPr>
            <a:r>
              <a:rPr sz="1250" b="0">
                <a:solidFill>
                  <a:srgbClr val="64748B"/>
                </a:solidFill>
                <a:latin typeface="Calibri"/>
              </a:rPr>
              <a:t>One correct node at K = 3 caps precision at a third. The denominator is K itself.</a:t>
            </a:r>
          </a:p>
        </p:txBody>
      </p:sp>
      <p:sp>
        <p:nvSpPr>
          <p:cNvPr id="43" name="Rectangle 42"/>
          <p:cNvSpPr/>
          <p:nvPr/>
        </p:nvSpPr>
        <p:spPr>
          <a:xfrm>
            <a:off x="566928" y="5760720"/>
            <a:ext cx="11057839"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6928" y="5961888"/>
            <a:ext cx="10881360" cy="365760"/>
          </a:xfrm>
          <a:prstGeom prst="rect">
            <a:avLst/>
          </a:prstGeom>
          <a:noFill/>
        </p:spPr>
        <p:txBody>
          <a:bodyPr wrap="square" lIns="0" tIns="0" rIns="0" bIns="0" anchor="t">
            <a:spAutoFit/>
          </a:bodyPr>
          <a:lstStyle/>
          <a:p>
            <a:pPr algn="l">
              <a:lnSpc>
                <a:spcPct val="115000"/>
              </a:lnSpc>
            </a:pPr>
            <a:r>
              <a:rPr sz="1400" b="1">
                <a:solidFill>
                  <a:srgbClr val="0F172A"/>
                </a:solidFill>
                <a:latin typeface="Calibri"/>
              </a:rPr>
              <a:t>Four questions on one filing show the mechanism working. The benchmark proper is 900 runs and it has not started.</a:t>
            </a:r>
          </a:p>
        </p:txBody>
      </p:sp>
      <p:sp>
        <p:nvSpPr>
          <p:cNvPr id="45" name="TextBox 44"/>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CONCLUSIONS</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What the work supports so far</a:t>
            </a:r>
          </a:p>
        </p:txBody>
      </p:sp>
      <p:sp>
        <p:nvSpPr>
          <p:cNvPr id="6" name="TextBox 5"/>
          <p:cNvSpPr txBox="1"/>
          <p:nvPr/>
        </p:nvSpPr>
        <p:spPr>
          <a:xfrm>
            <a:off x="566928" y="1572768"/>
            <a:ext cx="9509760" cy="548640"/>
          </a:xfrm>
          <a:prstGeom prst="rect">
            <a:avLst/>
          </a:prstGeom>
          <a:noFill/>
        </p:spPr>
        <p:txBody>
          <a:bodyPr wrap="square" lIns="0" tIns="0" rIns="0" bIns="0" anchor="t">
            <a:spAutoFit/>
          </a:bodyPr>
          <a:lstStyle/>
          <a:p>
            <a:pPr algn="l">
              <a:lnSpc>
                <a:spcPct val="115000"/>
              </a:lnSpc>
            </a:pPr>
            <a:r>
              <a:rPr sz="1500" b="0">
                <a:solidFill>
                  <a:srgbClr val="64748B"/>
                </a:solidFill>
                <a:latin typeface="Calibri"/>
              </a:rPr>
              <a:t>None of these come from the benchmark. They come from building the system.</a:t>
            </a:r>
          </a:p>
        </p:txBody>
      </p:sp>
      <p:sp>
        <p:nvSpPr>
          <p:cNvPr id="7" name="Rectangle 6"/>
          <p:cNvSpPr/>
          <p:nvPr/>
        </p:nvSpPr>
        <p:spPr>
          <a:xfrm>
            <a:off x="566928" y="2029968"/>
            <a:ext cx="50800" cy="804672"/>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2029968"/>
            <a:ext cx="1042416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The three paradigms disagree about the evidence</a:t>
            </a:r>
          </a:p>
        </p:txBody>
      </p:sp>
      <p:sp>
        <p:nvSpPr>
          <p:cNvPr id="9" name="TextBox 8"/>
          <p:cNvSpPr txBox="1"/>
          <p:nvPr/>
        </p:nvSpPr>
        <p:spPr>
          <a:xfrm>
            <a:off x="768096" y="2395728"/>
            <a:ext cx="10241280" cy="45720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On the same question they return different nodes, which is the effect the benchmark measures.</a:t>
            </a:r>
          </a:p>
        </p:txBody>
      </p:sp>
      <p:sp>
        <p:nvSpPr>
          <p:cNvPr id="10" name="Rectangle 9"/>
          <p:cNvSpPr/>
          <p:nvPr/>
        </p:nvSpPr>
        <p:spPr>
          <a:xfrm>
            <a:off x="566928" y="3081528"/>
            <a:ext cx="50800" cy="8046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3081528"/>
            <a:ext cx="1042416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Cost separates them as sharply as accuracy might</a:t>
            </a:r>
          </a:p>
        </p:txBody>
      </p:sp>
      <p:sp>
        <p:nvSpPr>
          <p:cNvPr id="12" name="TextBox 11"/>
          <p:cNvSpPr txBox="1"/>
          <p:nvPr/>
        </p:nvSpPr>
        <p:spPr>
          <a:xfrm>
            <a:off x="768096" y="3447288"/>
            <a:ext cx="10241280" cy="45720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BM25 retrieves with no model at all, while the vector arm pays for a cross-encoder on every query.</a:t>
            </a:r>
          </a:p>
        </p:txBody>
      </p:sp>
      <p:sp>
        <p:nvSpPr>
          <p:cNvPr id="13" name="Rectangle 12"/>
          <p:cNvSpPr/>
          <p:nvPr/>
        </p:nvSpPr>
        <p:spPr>
          <a:xfrm>
            <a:off x="566928" y="4133088"/>
            <a:ext cx="50800" cy="8046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4133088"/>
            <a:ext cx="1042416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Free-tier limits shaped the architecture</a:t>
            </a:r>
          </a:p>
        </p:txBody>
      </p:sp>
      <p:sp>
        <p:nvSpPr>
          <p:cNvPr id="15" name="TextBox 14"/>
          <p:cNvSpPr txBox="1"/>
          <p:nvPr/>
        </p:nvSpPr>
        <p:spPr>
          <a:xfrm>
            <a:off x="768096" y="4498848"/>
            <a:ext cx="10241280" cy="457200"/>
          </a:xfrm>
          <a:prstGeom prst="rect">
            <a:avLst/>
          </a:prstGeom>
          <a:noFill/>
        </p:spPr>
        <p:txBody>
          <a:bodyPr wrap="square" lIns="0" tIns="0" rIns="0" bIns="0" anchor="t">
            <a:spAutoFit/>
          </a:bodyPr>
          <a:lstStyle/>
          <a:p>
            <a:pPr algn="l">
              <a:lnSpc>
                <a:spcPct val="130000"/>
              </a:lnSpc>
            </a:pPr>
            <a:r>
              <a:rPr sz="1300" b="0">
                <a:solidFill>
                  <a:srgbClr val="64748B"/>
                </a:solidFill>
                <a:latin typeface="Calibri"/>
              </a:rPr>
              <a:t>The free quota runs out part-way through a run, which forced three providers and a resumable key.</a:t>
            </a:r>
          </a:p>
        </p:txBody>
      </p:sp>
      <p:sp>
        <p:nvSpPr>
          <p:cNvPr id="16" name="TextBox 15"/>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48640"/>
            <a:ext cx="274320" cy="4445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 y="457200"/>
            <a:ext cx="7315200" cy="228600"/>
          </a:xfrm>
          <a:prstGeom prst="rect">
            <a:avLst/>
          </a:prstGeom>
          <a:noFill/>
        </p:spPr>
        <p:txBody>
          <a:bodyPr wrap="square" lIns="0" tIns="0" rIns="0" bIns="0" anchor="t">
            <a:spAutoFit/>
          </a:bodyPr>
          <a:lstStyle/>
          <a:p>
            <a:pPr algn="l">
              <a:lnSpc>
                <a:spcPct val="115000"/>
              </a:lnSpc>
            </a:pPr>
            <a:r>
              <a:rPr sz="1100" b="1">
                <a:solidFill>
                  <a:srgbClr val="64748B"/>
                </a:solidFill>
                <a:latin typeface="Calibri"/>
              </a:rPr>
              <a:t>NEXT</a:t>
            </a:r>
          </a:p>
        </p:txBody>
      </p:sp>
      <p:sp>
        <p:nvSpPr>
          <p:cNvPr id="5" name="TextBox 4"/>
          <p:cNvSpPr txBox="1"/>
          <p:nvPr/>
        </p:nvSpPr>
        <p:spPr>
          <a:xfrm>
            <a:off x="566928" y="786384"/>
            <a:ext cx="11057839" cy="822960"/>
          </a:xfrm>
          <a:prstGeom prst="rect">
            <a:avLst/>
          </a:prstGeom>
          <a:noFill/>
        </p:spPr>
        <p:txBody>
          <a:bodyPr wrap="square" lIns="0" tIns="0" rIns="0" bIns="0" anchor="t">
            <a:spAutoFit/>
          </a:bodyPr>
          <a:lstStyle/>
          <a:p>
            <a:pPr algn="l">
              <a:lnSpc>
                <a:spcPct val="102000"/>
              </a:lnSpc>
            </a:pPr>
            <a:r>
              <a:rPr sz="3200" b="1">
                <a:solidFill>
                  <a:srgbClr val="0F172A"/>
                </a:solidFill>
                <a:latin typeface="Calibri"/>
              </a:rPr>
              <a:t>What happens next</a:t>
            </a:r>
          </a:p>
        </p:txBody>
      </p:sp>
      <p:sp>
        <p:nvSpPr>
          <p:cNvPr id="6" name="TextBox 5"/>
          <p:cNvSpPr txBox="1"/>
          <p:nvPr/>
        </p:nvSpPr>
        <p:spPr>
          <a:xfrm>
            <a:off x="566928" y="1572768"/>
            <a:ext cx="457200" cy="320040"/>
          </a:xfrm>
          <a:prstGeom prst="rect">
            <a:avLst/>
          </a:prstGeom>
          <a:noFill/>
        </p:spPr>
        <p:txBody>
          <a:bodyPr wrap="square" lIns="0" tIns="0" rIns="0" bIns="0" anchor="t">
            <a:spAutoFit/>
          </a:bodyPr>
          <a:lstStyle/>
          <a:p>
            <a:pPr algn="l">
              <a:lnSpc>
                <a:spcPct val="115000"/>
              </a:lnSpc>
            </a:pPr>
            <a:r>
              <a:rPr sz="1700" b="1">
                <a:solidFill>
                  <a:srgbClr val="E2E8F0"/>
                </a:solidFill>
                <a:latin typeface="Consolas"/>
              </a:rPr>
              <a:t>1</a:t>
            </a:r>
          </a:p>
        </p:txBody>
      </p:sp>
      <p:sp>
        <p:nvSpPr>
          <p:cNvPr id="7" name="TextBox 6"/>
          <p:cNvSpPr txBox="1"/>
          <p:nvPr/>
        </p:nvSpPr>
        <p:spPr>
          <a:xfrm>
            <a:off x="1133856" y="1572768"/>
            <a:ext cx="658368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Label the 20 golden questions</a:t>
            </a:r>
          </a:p>
        </p:txBody>
      </p:sp>
      <p:sp>
        <p:nvSpPr>
          <p:cNvPr id="8" name="TextBox 7"/>
          <p:cNvSpPr txBox="1"/>
          <p:nvPr/>
        </p:nvSpPr>
        <p:spPr>
          <a:xfrm>
            <a:off x="8065007" y="1600200"/>
            <a:ext cx="3931920" cy="32004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manual, nothing blocks it</a:t>
            </a:r>
          </a:p>
        </p:txBody>
      </p:sp>
      <p:sp>
        <p:nvSpPr>
          <p:cNvPr id="9" name="TextBox 8"/>
          <p:cNvSpPr txBox="1"/>
          <p:nvPr/>
        </p:nvSpPr>
        <p:spPr>
          <a:xfrm>
            <a:off x="566928" y="2231136"/>
            <a:ext cx="457200" cy="320040"/>
          </a:xfrm>
          <a:prstGeom prst="rect">
            <a:avLst/>
          </a:prstGeom>
          <a:noFill/>
        </p:spPr>
        <p:txBody>
          <a:bodyPr wrap="square" lIns="0" tIns="0" rIns="0" bIns="0" anchor="t">
            <a:spAutoFit/>
          </a:bodyPr>
          <a:lstStyle/>
          <a:p>
            <a:pPr algn="l">
              <a:lnSpc>
                <a:spcPct val="115000"/>
              </a:lnSpc>
            </a:pPr>
            <a:r>
              <a:rPr sz="1700" b="1">
                <a:solidFill>
                  <a:srgbClr val="E2E8F0"/>
                </a:solidFill>
                <a:latin typeface="Consolas"/>
              </a:rPr>
              <a:t>2</a:t>
            </a:r>
          </a:p>
        </p:txBody>
      </p:sp>
      <p:sp>
        <p:nvSpPr>
          <p:cNvPr id="10" name="TextBox 9"/>
          <p:cNvSpPr txBox="1"/>
          <p:nvPr/>
        </p:nvSpPr>
        <p:spPr>
          <a:xfrm>
            <a:off x="1133856" y="2231136"/>
            <a:ext cx="658368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Clear the judge against human scoring</a:t>
            </a:r>
          </a:p>
        </p:txBody>
      </p:sp>
      <p:sp>
        <p:nvSpPr>
          <p:cNvPr id="11" name="TextBox 10"/>
          <p:cNvSpPr txBox="1"/>
          <p:nvPr/>
        </p:nvSpPr>
        <p:spPr>
          <a:xfrm>
            <a:off x="8065007" y="2258568"/>
            <a:ext cx="3931920" cy="32004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60 outputs, held-out questions</a:t>
            </a:r>
          </a:p>
        </p:txBody>
      </p:sp>
      <p:sp>
        <p:nvSpPr>
          <p:cNvPr id="12" name="TextBox 11"/>
          <p:cNvSpPr txBox="1"/>
          <p:nvPr/>
        </p:nvSpPr>
        <p:spPr>
          <a:xfrm>
            <a:off x="566928" y="2889504"/>
            <a:ext cx="457200" cy="320040"/>
          </a:xfrm>
          <a:prstGeom prst="rect">
            <a:avLst/>
          </a:prstGeom>
          <a:noFill/>
        </p:spPr>
        <p:txBody>
          <a:bodyPr wrap="square" lIns="0" tIns="0" rIns="0" bIns="0" anchor="t">
            <a:spAutoFit/>
          </a:bodyPr>
          <a:lstStyle/>
          <a:p>
            <a:pPr algn="l">
              <a:lnSpc>
                <a:spcPct val="115000"/>
              </a:lnSpc>
            </a:pPr>
            <a:r>
              <a:rPr sz="1700" b="1">
                <a:solidFill>
                  <a:srgbClr val="E2E8F0"/>
                </a:solidFill>
                <a:latin typeface="Consolas"/>
              </a:rPr>
              <a:t>3</a:t>
            </a:r>
          </a:p>
        </p:txBody>
      </p:sp>
      <p:sp>
        <p:nvSpPr>
          <p:cNvPr id="13" name="TextBox 12"/>
          <p:cNvSpPr txBox="1"/>
          <p:nvPr/>
        </p:nvSpPr>
        <p:spPr>
          <a:xfrm>
            <a:off x="1133856" y="2889504"/>
            <a:ext cx="658368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Build the remaining vector and BM25 indexes</a:t>
            </a:r>
          </a:p>
        </p:txBody>
      </p:sp>
      <p:sp>
        <p:nvSpPr>
          <p:cNvPr id="14" name="TextBox 13"/>
          <p:cNvSpPr txBox="1"/>
          <p:nvPr/>
        </p:nvSpPr>
        <p:spPr>
          <a:xfrm>
            <a:off x="8065007" y="2916936"/>
            <a:ext cx="3931920" cy="32004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local, no API cost</a:t>
            </a:r>
          </a:p>
        </p:txBody>
      </p:sp>
      <p:sp>
        <p:nvSpPr>
          <p:cNvPr id="15" name="TextBox 14"/>
          <p:cNvSpPr txBox="1"/>
          <p:nvPr/>
        </p:nvSpPr>
        <p:spPr>
          <a:xfrm>
            <a:off x="566928" y="3547872"/>
            <a:ext cx="457200" cy="320040"/>
          </a:xfrm>
          <a:prstGeom prst="rect">
            <a:avLst/>
          </a:prstGeom>
          <a:noFill/>
        </p:spPr>
        <p:txBody>
          <a:bodyPr wrap="square" lIns="0" tIns="0" rIns="0" bIns="0" anchor="t">
            <a:spAutoFit/>
          </a:bodyPr>
          <a:lstStyle/>
          <a:p>
            <a:pPr algn="l">
              <a:lnSpc>
                <a:spcPct val="115000"/>
              </a:lnSpc>
            </a:pPr>
            <a:r>
              <a:rPr sz="1700" b="1">
                <a:solidFill>
                  <a:srgbClr val="E2E8F0"/>
                </a:solidFill>
                <a:latin typeface="Consolas"/>
              </a:rPr>
              <a:t>4</a:t>
            </a:r>
          </a:p>
        </p:txBody>
      </p:sp>
      <p:sp>
        <p:nvSpPr>
          <p:cNvPr id="16" name="TextBox 15"/>
          <p:cNvSpPr txBox="1"/>
          <p:nvPr/>
        </p:nvSpPr>
        <p:spPr>
          <a:xfrm>
            <a:off x="1133856" y="3547872"/>
            <a:ext cx="658368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Run the 900-cell benchmark</a:t>
            </a:r>
          </a:p>
        </p:txBody>
      </p:sp>
      <p:sp>
        <p:nvSpPr>
          <p:cNvPr id="17" name="TextBox 16"/>
          <p:cNvSpPr txBox="1"/>
          <p:nvPr/>
        </p:nvSpPr>
        <p:spPr>
          <a:xfrm>
            <a:off x="8065007" y="3575304"/>
            <a:ext cx="3931920" cy="32004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free tier, resumable after any crash</a:t>
            </a:r>
          </a:p>
        </p:txBody>
      </p:sp>
      <p:sp>
        <p:nvSpPr>
          <p:cNvPr id="18" name="TextBox 17"/>
          <p:cNvSpPr txBox="1"/>
          <p:nvPr/>
        </p:nvSpPr>
        <p:spPr>
          <a:xfrm>
            <a:off x="566928" y="4206240"/>
            <a:ext cx="457200" cy="320040"/>
          </a:xfrm>
          <a:prstGeom prst="rect">
            <a:avLst/>
          </a:prstGeom>
          <a:noFill/>
        </p:spPr>
        <p:txBody>
          <a:bodyPr wrap="square" lIns="0" tIns="0" rIns="0" bIns="0" anchor="t">
            <a:spAutoFit/>
          </a:bodyPr>
          <a:lstStyle/>
          <a:p>
            <a:pPr algn="l">
              <a:lnSpc>
                <a:spcPct val="115000"/>
              </a:lnSpc>
            </a:pPr>
            <a:r>
              <a:rPr sz="1700" b="1">
                <a:solidFill>
                  <a:srgbClr val="E2E8F0"/>
                </a:solidFill>
                <a:latin typeface="Consolas"/>
              </a:rPr>
              <a:t>5</a:t>
            </a:r>
          </a:p>
        </p:txBody>
      </p:sp>
      <p:sp>
        <p:nvSpPr>
          <p:cNvPr id="19" name="TextBox 18"/>
          <p:cNvSpPr txBox="1"/>
          <p:nvPr/>
        </p:nvSpPr>
        <p:spPr>
          <a:xfrm>
            <a:off x="1133856" y="4206240"/>
            <a:ext cx="6583680" cy="320040"/>
          </a:xfrm>
          <a:prstGeom prst="rect">
            <a:avLst/>
          </a:prstGeom>
          <a:noFill/>
        </p:spPr>
        <p:txBody>
          <a:bodyPr wrap="square" lIns="0" tIns="0" rIns="0" bIns="0" anchor="t">
            <a:spAutoFit/>
          </a:bodyPr>
          <a:lstStyle/>
          <a:p>
            <a:pPr algn="l">
              <a:lnSpc>
                <a:spcPct val="115000"/>
              </a:lnSpc>
            </a:pPr>
            <a:r>
              <a:rPr sz="1700" b="1">
                <a:solidFill>
                  <a:srgbClr val="0F172A"/>
                </a:solidFill>
                <a:latin typeface="Calibri"/>
              </a:rPr>
              <a:t>Report per quadrant</a:t>
            </a:r>
          </a:p>
        </p:txBody>
      </p:sp>
      <p:sp>
        <p:nvSpPr>
          <p:cNvPr id="20" name="TextBox 19"/>
          <p:cNvSpPr txBox="1"/>
          <p:nvPr/>
        </p:nvSpPr>
        <p:spPr>
          <a:xfrm>
            <a:off x="8065007" y="4233672"/>
            <a:ext cx="3931920" cy="320040"/>
          </a:xfrm>
          <a:prstGeom prst="rect">
            <a:avLst/>
          </a:prstGeom>
          <a:noFill/>
        </p:spPr>
        <p:txBody>
          <a:bodyPr wrap="square" lIns="0" tIns="0" rIns="0" bIns="0" anchor="t">
            <a:spAutoFit/>
          </a:bodyPr>
          <a:lstStyle/>
          <a:p>
            <a:pPr algn="l">
              <a:lnSpc>
                <a:spcPct val="115000"/>
              </a:lnSpc>
            </a:pPr>
            <a:r>
              <a:rPr sz="1300" b="0">
                <a:solidFill>
                  <a:srgbClr val="64748B"/>
                </a:solidFill>
                <a:latin typeface="Calibri"/>
              </a:rPr>
              <a:t>where each paradigm wins, not one overall winner</a:t>
            </a:r>
          </a:p>
        </p:txBody>
      </p:sp>
      <p:sp>
        <p:nvSpPr>
          <p:cNvPr id="21" name="Rectangle 20"/>
          <p:cNvSpPr/>
          <p:nvPr/>
        </p:nvSpPr>
        <p:spPr>
          <a:xfrm>
            <a:off x="566928" y="5760720"/>
            <a:ext cx="11057839" cy="381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961888"/>
            <a:ext cx="10881360" cy="365760"/>
          </a:xfrm>
          <a:prstGeom prst="rect">
            <a:avLst/>
          </a:prstGeom>
          <a:noFill/>
        </p:spPr>
        <p:txBody>
          <a:bodyPr wrap="square" lIns="0" tIns="0" rIns="0" bIns="0" anchor="t">
            <a:spAutoFit/>
          </a:bodyPr>
          <a:lstStyle/>
          <a:p>
            <a:pPr algn="l">
              <a:lnSpc>
                <a:spcPct val="115000"/>
              </a:lnSpc>
            </a:pPr>
            <a:r>
              <a:rPr sz="1400" b="1">
                <a:solidFill>
                  <a:srgbClr val="0F172A"/>
                </a:solidFill>
                <a:latin typeface="Calibri"/>
              </a:rPr>
              <a:t>A result showing no difference between the paradigms would falsify the hypothesis, and that finding still counts.</a:t>
            </a:r>
          </a:p>
        </p:txBody>
      </p:sp>
      <p:sp>
        <p:nvSpPr>
          <p:cNvPr id="23" name="TextBox 22"/>
          <p:cNvSpPr txBox="1"/>
          <p:nvPr/>
        </p:nvSpPr>
        <p:spPr>
          <a:xfrm>
            <a:off x="10527487" y="6382512"/>
            <a:ext cx="1097280" cy="274320"/>
          </a:xfrm>
          <a:prstGeom prst="rect">
            <a:avLst/>
          </a:prstGeom>
          <a:noFill/>
        </p:spPr>
        <p:txBody>
          <a:bodyPr wrap="square" lIns="0" tIns="0" rIns="0" bIns="0" anchor="t">
            <a:spAutoFit/>
          </a:bodyPr>
          <a:lstStyle/>
          <a:p>
            <a:pPr algn="r">
              <a:lnSpc>
                <a:spcPct val="115000"/>
              </a:lnSpc>
            </a:pPr>
            <a:r>
              <a:rPr sz="1000" b="0">
                <a:solidFill>
                  <a:srgbClr val="64748B"/>
                </a:solidFill>
                <a:latin typeface="Consola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1251</Words>
  <Application>Microsoft Macintosh PowerPoint</Application>
  <PresentationFormat>Widescreen</PresentationFormat>
  <Paragraphs>158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Ojaswi Athghara</cp:lastModifiedBy>
  <cp:revision>3</cp:revision>
  <dcterms:created xsi:type="dcterms:W3CDTF">2013-01-27T09:14:16Z</dcterms:created>
  <dcterms:modified xsi:type="dcterms:W3CDTF">2026-08-20T21:46:51Z</dcterms:modified>
  <cp:category/>
</cp:coreProperties>
</file>