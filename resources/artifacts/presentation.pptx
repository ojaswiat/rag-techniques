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title, the ethics category A0, and that the project uses public filings and no human participants. Move on quickly.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13 filings, 5 companies, 18,297 nodes.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aims. Emphasise that retrieval is the only variable that changes.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corpus, three indexes, one shared answerer and one judge. Walk the flow left to right once. Stress that the answerer and judge never change, so any difference traces back to retrieval.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two rows state how each pipeline works. The third row is a prediction. Point at it and say plainly that it is a hypothesis, not a result.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three numbers: 13 filings, 339 tests, one financial-domain citation. Keep it to about twenty 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here. Zero results is the true state, and saying it plainly beats a vague claim.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Swipe to the second desktop here. Do not narrate the switch.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claims, none of them about which pipeline wins.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falsification point. It shows the question is genuinely open.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868680"/>
            <a:ext cx="1371600" cy="635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88720"/>
            <a:ext cx="10424160" cy="1371600"/>
          </a:xfrm>
          <a:prstGeom prst="rect">
            <a:avLst/>
          </a:prstGeom>
          <a:noFill/>
        </p:spPr>
        <p:txBody>
          <a:bodyPr wrap="square" anchor="t" lIns="0" rIns="0" tIns="0" bIns="0">
            <a:spAutoFit/>
          </a:bodyPr>
          <a:lstStyle/>
          <a:p>
            <a:pPr algn="l">
              <a:lnSpc>
                <a:spcPct val="102000"/>
              </a:lnSpc>
            </a:pPr>
            <a:r>
              <a:rPr sz="4400" b="1">
                <a:solidFill>
                  <a:srgbClr val="0F172A"/>
                </a:solidFill>
                <a:latin typeface="Calibri"/>
              </a:rPr>
              <a:t>Three ways to find an answer in a 10-K</a:t>
            </a:r>
          </a:p>
        </p:txBody>
      </p:sp>
      <p:sp>
        <p:nvSpPr>
          <p:cNvPr id="5" name="TextBox 4"/>
          <p:cNvSpPr txBox="1"/>
          <p:nvPr/>
        </p:nvSpPr>
        <p:spPr>
          <a:xfrm>
            <a:off x="566928" y="2331720"/>
            <a:ext cx="9509760" cy="731520"/>
          </a:xfrm>
          <a:prstGeom prst="rect">
            <a:avLst/>
          </a:prstGeom>
          <a:noFill/>
        </p:spPr>
        <p:txBody>
          <a:bodyPr wrap="square" anchor="t" lIns="0" rIns="0" tIns="0" bIns="0">
            <a:spAutoFit/>
          </a:bodyPr>
          <a:lstStyle/>
          <a:p>
            <a:pPr algn="l">
              <a:lnSpc>
                <a:spcPct val="115000"/>
              </a:lnSpc>
            </a:pPr>
            <a:r>
              <a:rPr sz="1600" b="0">
                <a:solidFill>
                  <a:srgbClr val="64748B"/>
                </a:solidFill>
                <a:latin typeface="Calibri"/>
              </a:rPr>
              <a:t>This project compares semantic, statistical and structural retrieval over SEC annual filings, holding everything after retrieval identical.</a:t>
            </a:r>
          </a:p>
        </p:txBody>
      </p:sp>
      <p:sp>
        <p:nvSpPr>
          <p:cNvPr id="6" name="TextBox 5"/>
          <p:cNvSpPr txBox="1"/>
          <p:nvPr/>
        </p:nvSpPr>
        <p:spPr>
          <a:xfrm>
            <a:off x="566928" y="3108960"/>
            <a:ext cx="10424160" cy="457200"/>
          </a:xfrm>
          <a:prstGeom prst="rect">
            <a:avLst/>
          </a:prstGeom>
          <a:noFill/>
        </p:spPr>
        <p:txBody>
          <a:bodyPr wrap="square" anchor="t" lIns="0" rIns="0" tIns="0" bIns="0">
            <a:spAutoFit/>
          </a:bodyPr>
          <a:lstStyle/>
          <a:p>
            <a:pPr algn="l">
              <a:lnSpc>
                <a:spcPct val="115000"/>
              </a:lnSpc>
            </a:pPr>
            <a:r>
              <a:rPr sz="1400" b="1">
                <a:solidFill>
                  <a:srgbClr val="0F172A"/>
                </a:solidFill>
                <a:latin typeface="Calibri"/>
              </a:rPr>
              <a:t>Ojaswi Athghara  ·  201959096</a:t>
            </a:r>
          </a:p>
          <a:p>
            <a:pPr algn="l">
              <a:lnSpc>
                <a:spcPct val="115000"/>
              </a:lnSpc>
              <a:spcBef>
                <a:spcPts val="400"/>
              </a:spcBef>
            </a:pPr>
            <a:r>
              <a:rPr sz="1200" b="0">
                <a:solidFill>
                  <a:srgbClr val="64748B"/>
                </a:solidFill>
                <a:latin typeface="Calibri"/>
              </a:rPr>
              <a:t>COMP702 MSc Project  ·  Supervisor: Blaine Keetch  ·  Second assessment</a:t>
            </a:r>
          </a:p>
        </p:txBody>
      </p:sp>
      <p:sp>
        <p:nvSpPr>
          <p:cNvPr id="7" name="Rectangle 6"/>
          <p:cNvSpPr/>
          <p:nvPr/>
        </p:nvSpPr>
        <p:spPr>
          <a:xfrm>
            <a:off x="566928" y="3977639"/>
            <a:ext cx="11057839" cy="381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87952"/>
            <a:ext cx="10424160" cy="274320"/>
          </a:xfrm>
          <a:prstGeom prst="rect">
            <a:avLst/>
          </a:prstGeom>
          <a:noFill/>
        </p:spPr>
        <p:txBody>
          <a:bodyPr wrap="square" anchor="t" lIns="0" rIns="0" tIns="0" bIns="0">
            <a:spAutoFit/>
          </a:bodyPr>
          <a:lstStyle/>
          <a:p>
            <a:pPr algn="l">
              <a:lnSpc>
                <a:spcPct val="115000"/>
              </a:lnSpc>
            </a:pPr>
            <a:r>
              <a:rPr sz="1300" b="1">
                <a:solidFill>
                  <a:srgbClr val="0F172A"/>
                </a:solidFill>
                <a:latin typeface="Calibri"/>
              </a:rPr>
              <a:t>STATEMENT OF ETHICAL COMPLIANCE:  A0</a:t>
            </a:r>
          </a:p>
        </p:txBody>
      </p:sp>
      <p:sp>
        <p:nvSpPr>
          <p:cNvPr id="9" name="TextBox 8"/>
          <p:cNvSpPr txBox="1"/>
          <p:nvPr/>
        </p:nvSpPr>
        <p:spPr>
          <a:xfrm>
            <a:off x="566928" y="4553712"/>
            <a:ext cx="10881360" cy="1463040"/>
          </a:xfrm>
          <a:prstGeom prst="rect">
            <a:avLst/>
          </a:prstGeom>
          <a:noFill/>
        </p:spPr>
        <p:txBody>
          <a:bodyPr wrap="square" anchor="t" lIns="0" rIns="0" tIns="0" bIns="0">
            <a:spAutoFit/>
          </a:bodyPr>
          <a:lstStyle/>
          <a:p>
            <a:pPr algn="l">
              <a:lnSpc>
                <a:spcPct val="125000"/>
              </a:lnSpc>
            </a:pPr>
            <a:r>
              <a:rPr sz="1200" b="0">
                <a:solidFill>
                  <a:srgbClr val="64748B"/>
                </a:solidFill>
                <a:latin typeface="Calibri"/>
              </a:rPr>
              <a:t>Data Category A.  Every source document is a United States SEC 10-K filing taken from EDGAR, a public regulatory archive. The data carries no personal or confidential information and needs no licence or consent.</a:t>
            </a:r>
          </a:p>
          <a:p>
            <a:pPr algn="l">
              <a:lnSpc>
                <a:spcPct val="125000"/>
              </a:lnSpc>
              <a:spcBef>
                <a:spcPts val="700"/>
              </a:spcBef>
            </a:pPr>
            <a:r>
              <a:rPr sz="1200" b="0">
                <a:solidFill>
                  <a:srgbClr val="64748B"/>
                </a:solidFill>
                <a:latin typeface="Calibri"/>
              </a:rPr>
              <a:t>Participant Category 0.  The project uses no human participants. Two language models generate and verify the benchmark; I carry out the two manual steps myself on the project's own outputs.</a:t>
            </a:r>
          </a:p>
          <a:p>
            <a:pPr algn="l">
              <a:lnSpc>
                <a:spcPct val="125000"/>
              </a:lnSpc>
              <a:spcBef>
                <a:spcPts val="700"/>
              </a:spcBef>
            </a:pPr>
            <a:r>
              <a:rPr sz="1200" b="1">
                <a:solidFill>
                  <a:srgbClr val="0F172A"/>
                </a:solidFill>
                <a:latin typeface="Calibri"/>
              </a:rPr>
              <a:t>I have read the ethical guidance and I follow it throughout this project.</a:t>
            </a:r>
          </a:p>
        </p:txBody>
      </p:sp>
      <p:sp>
        <p:nvSpPr>
          <p:cNvPr id="10" name="TextBox 9"/>
          <p:cNvSpPr txBox="1"/>
          <p:nvPr/>
        </p:nvSpPr>
        <p:spPr>
          <a:xfrm>
            <a:off x="10527487" y="6382512"/>
            <a:ext cx="1097280" cy="274320"/>
          </a:xfrm>
          <a:prstGeom prst="rect">
            <a:avLst/>
          </a:prstGeom>
          <a:noFill/>
        </p:spPr>
        <p:txBody>
          <a:bodyPr wrap="square" anchor="t" lIns="0" rIns="0" tIns="0" bIns="0">
            <a:spAutoFit/>
          </a:bodyPr>
          <a:lstStyle/>
          <a:p>
            <a:pPr algn="r">
              <a:lnSpc>
                <a:spcPct val="115000"/>
              </a:lnSpc>
            </a:pPr>
            <a:r>
              <a:rPr sz="1000" b="0">
                <a:solidFill>
                  <a:srgbClr val="64748B"/>
                </a:solidFill>
                <a:latin typeface="Consola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48640"/>
            <a:ext cx="274320" cy="4445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9264" y="457200"/>
            <a:ext cx="7315200" cy="228600"/>
          </a:xfrm>
          <a:prstGeom prst="rect">
            <a:avLst/>
          </a:prstGeom>
          <a:noFill/>
        </p:spPr>
        <p:txBody>
          <a:bodyPr wrap="square" anchor="t" lIns="0" rIns="0" tIns="0" bIns="0">
            <a:spAutoFit/>
          </a:bodyPr>
          <a:lstStyle/>
          <a:p>
            <a:pPr algn="l">
              <a:lnSpc>
                <a:spcPct val="115000"/>
              </a:lnSpc>
            </a:pPr>
            <a:r>
              <a:rPr sz="1100" b="1">
                <a:solidFill>
                  <a:srgbClr val="64748B"/>
                </a:solidFill>
                <a:latin typeface="Calibri"/>
              </a:rPr>
              <a:t>MOTIVATION</a:t>
            </a:r>
          </a:p>
        </p:txBody>
      </p:sp>
      <p:sp>
        <p:nvSpPr>
          <p:cNvPr id="5" name="TextBox 4"/>
          <p:cNvSpPr txBox="1"/>
          <p:nvPr/>
        </p:nvSpPr>
        <p:spPr>
          <a:xfrm>
            <a:off x="566928" y="786384"/>
            <a:ext cx="11057839" cy="822960"/>
          </a:xfrm>
          <a:prstGeom prst="rect">
            <a:avLst/>
          </a:prstGeom>
          <a:noFill/>
        </p:spPr>
        <p:txBody>
          <a:bodyPr wrap="square" anchor="t" lIns="0" rIns="0" tIns="0" bIns="0">
            <a:spAutoFit/>
          </a:bodyPr>
          <a:lstStyle/>
          <a:p>
            <a:pPr algn="l">
              <a:lnSpc>
                <a:spcPct val="102000"/>
              </a:lnSpc>
            </a:pPr>
            <a:r>
              <a:rPr sz="3200" b="1">
                <a:solidFill>
                  <a:srgbClr val="0F172A"/>
                </a:solidFill>
                <a:latin typeface="Calibri"/>
              </a:rPr>
              <a:t>A 10-K hides its answers in three different shapes</a:t>
            </a:r>
          </a:p>
        </p:txBody>
      </p:sp>
      <p:sp>
        <p:nvSpPr>
          <p:cNvPr id="6" name="TextBox 5"/>
          <p:cNvSpPr txBox="1"/>
          <p:nvPr/>
        </p:nvSpPr>
        <p:spPr>
          <a:xfrm>
            <a:off x="566928" y="1572768"/>
            <a:ext cx="9509760" cy="548640"/>
          </a:xfrm>
          <a:prstGeom prst="rect">
            <a:avLst/>
          </a:prstGeom>
          <a:noFill/>
        </p:spPr>
        <p:txBody>
          <a:bodyPr wrap="square" anchor="t" lIns="0" rIns="0" tIns="0" bIns="0">
            <a:spAutoFit/>
          </a:bodyPr>
          <a:lstStyle/>
          <a:p>
            <a:pPr algn="l">
              <a:lnSpc>
                <a:spcPct val="115000"/>
              </a:lnSpc>
            </a:pPr>
            <a:r>
              <a:rPr sz="1500" b="0">
                <a:solidFill>
                  <a:srgbClr val="64748B"/>
                </a:solidFill>
                <a:latin typeface="Calibri"/>
              </a:rPr>
              <a:t>Retrieval systems are usually tested on prose. An annual report mixes prose with dense tables and cross-referenced notes.</a:t>
            </a:r>
          </a:p>
        </p:txBody>
      </p:sp>
      <p:sp>
        <p:nvSpPr>
          <p:cNvPr id="7" name="Rectangle 6"/>
          <p:cNvSpPr/>
          <p:nvPr/>
        </p:nvSpPr>
        <p:spPr>
          <a:xfrm>
            <a:off x="566928" y="2029968"/>
            <a:ext cx="3564026" cy="5080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231136"/>
            <a:ext cx="3564026" cy="36576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Narrative prose</a:t>
            </a:r>
          </a:p>
        </p:txBody>
      </p:sp>
      <p:sp>
        <p:nvSpPr>
          <p:cNvPr id="9" name="TextBox 8"/>
          <p:cNvSpPr txBox="1"/>
          <p:nvPr/>
        </p:nvSpPr>
        <p:spPr>
          <a:xfrm>
            <a:off x="566928" y="2651760"/>
            <a:ext cx="3564026" cy="1463040"/>
          </a:xfrm>
          <a:prstGeom prst="rect">
            <a:avLst/>
          </a:prstGeom>
          <a:noFill/>
        </p:spPr>
        <p:txBody>
          <a:bodyPr wrap="square" anchor="t" lIns="0" rIns="0" tIns="0" bIns="0">
            <a:spAutoFit/>
          </a:bodyPr>
          <a:lstStyle/>
          <a:p>
            <a:pPr algn="l">
              <a:lnSpc>
                <a:spcPct val="130000"/>
              </a:lnSpc>
            </a:pPr>
            <a:r>
              <a:rPr sz="1300" b="0">
                <a:solidFill>
                  <a:srgbClr val="64748B"/>
                </a:solidFill>
                <a:latin typeface="Calibri"/>
              </a:rPr>
              <a:t>Management states the answer in a sentence. Meaning-based search handles this well.</a:t>
            </a:r>
          </a:p>
        </p:txBody>
      </p:sp>
      <p:sp>
        <p:nvSpPr>
          <p:cNvPr id="10" name="Rectangle 9"/>
          <p:cNvSpPr/>
          <p:nvPr/>
        </p:nvSpPr>
        <p:spPr>
          <a:xfrm>
            <a:off x="4313834" y="2029968"/>
            <a:ext cx="3564026" cy="508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3834" y="2231136"/>
            <a:ext cx="3564026" cy="36576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Financial tables</a:t>
            </a:r>
          </a:p>
        </p:txBody>
      </p:sp>
      <p:sp>
        <p:nvSpPr>
          <p:cNvPr id="12" name="TextBox 11"/>
          <p:cNvSpPr txBox="1"/>
          <p:nvPr/>
        </p:nvSpPr>
        <p:spPr>
          <a:xfrm>
            <a:off x="4313834" y="2651760"/>
            <a:ext cx="3564026" cy="1463040"/>
          </a:xfrm>
          <a:prstGeom prst="rect">
            <a:avLst/>
          </a:prstGeom>
          <a:noFill/>
        </p:spPr>
        <p:txBody>
          <a:bodyPr wrap="square" anchor="t" lIns="0" rIns="0" tIns="0" bIns="0">
            <a:spAutoFit/>
          </a:bodyPr>
          <a:lstStyle/>
          <a:p>
            <a:pPr algn="l">
              <a:lnSpc>
                <a:spcPct val="130000"/>
              </a:lnSpc>
            </a:pPr>
            <a:r>
              <a:rPr sz="1300" b="0">
                <a:solidFill>
                  <a:srgbClr val="64748B"/>
                </a:solidFill>
                <a:latin typeface="Calibri"/>
              </a:rPr>
              <a:t>The answer sits in one cell of a numeric grid. Summarising the table destroys it.</a:t>
            </a:r>
          </a:p>
        </p:txBody>
      </p:sp>
      <p:sp>
        <p:nvSpPr>
          <p:cNvPr id="13" name="Rectangle 12"/>
          <p:cNvSpPr/>
          <p:nvPr/>
        </p:nvSpPr>
        <p:spPr>
          <a:xfrm>
            <a:off x="8060740" y="2029968"/>
            <a:ext cx="3564026" cy="508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60740" y="2231136"/>
            <a:ext cx="3564026" cy="36576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Cross-referenced footnotes</a:t>
            </a:r>
          </a:p>
        </p:txBody>
      </p:sp>
      <p:sp>
        <p:nvSpPr>
          <p:cNvPr id="15" name="TextBox 14"/>
          <p:cNvSpPr txBox="1"/>
          <p:nvPr/>
        </p:nvSpPr>
        <p:spPr>
          <a:xfrm>
            <a:off x="8060740" y="2651760"/>
            <a:ext cx="3564026" cy="1463040"/>
          </a:xfrm>
          <a:prstGeom prst="rect">
            <a:avLst/>
          </a:prstGeom>
          <a:noFill/>
        </p:spPr>
        <p:txBody>
          <a:bodyPr wrap="square" anchor="t" lIns="0" rIns="0" tIns="0" bIns="0">
            <a:spAutoFit/>
          </a:bodyPr>
          <a:lstStyle/>
          <a:p>
            <a:pPr algn="l">
              <a:lnSpc>
                <a:spcPct val="130000"/>
              </a:lnSpc>
            </a:pPr>
            <a:r>
              <a:rPr sz="1300" b="0">
                <a:solidFill>
                  <a:srgbClr val="64748B"/>
                </a:solidFill>
                <a:latin typeface="Calibri"/>
              </a:rPr>
              <a:t>The answer spans a note and the table it qualifies, so the reader must join them.</a:t>
            </a:r>
          </a:p>
        </p:txBody>
      </p:sp>
      <p:sp>
        <p:nvSpPr>
          <p:cNvPr id="16" name="Rectangle 15"/>
          <p:cNvSpPr/>
          <p:nvPr/>
        </p:nvSpPr>
        <p:spPr>
          <a:xfrm>
            <a:off x="566928" y="4846320"/>
            <a:ext cx="2641015" cy="3810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992624"/>
            <a:ext cx="2641015" cy="457200"/>
          </a:xfrm>
          <a:prstGeom prst="rect">
            <a:avLst/>
          </a:prstGeom>
          <a:noFill/>
        </p:spPr>
        <p:txBody>
          <a:bodyPr wrap="square" anchor="t" lIns="0" rIns="0" tIns="0" bIns="0">
            <a:spAutoFit/>
          </a:bodyPr>
          <a:lstStyle/>
          <a:p>
            <a:pPr algn="l">
              <a:lnSpc>
                <a:spcPct val="100000"/>
              </a:lnSpc>
            </a:pPr>
            <a:r>
              <a:rPr sz="3000" b="1">
                <a:solidFill>
                  <a:srgbClr val="F43F5E"/>
                </a:solidFill>
                <a:latin typeface="Consolas"/>
              </a:rPr>
              <a:t>13</a:t>
            </a:r>
          </a:p>
        </p:txBody>
      </p:sp>
      <p:sp>
        <p:nvSpPr>
          <p:cNvPr id="18" name="TextBox 17"/>
          <p:cNvSpPr txBox="1"/>
          <p:nvPr/>
        </p:nvSpPr>
        <p:spPr>
          <a:xfrm>
            <a:off x="566928" y="5486400"/>
            <a:ext cx="2641015" cy="365760"/>
          </a:xfrm>
          <a:prstGeom prst="rect">
            <a:avLst/>
          </a:prstGeom>
          <a:noFill/>
        </p:spPr>
        <p:txBody>
          <a:bodyPr wrap="square" anchor="t" lIns="0" rIns="0" tIns="0" bIns="0">
            <a:spAutoFit/>
          </a:bodyPr>
          <a:lstStyle/>
          <a:p>
            <a:pPr algn="l">
              <a:lnSpc>
                <a:spcPct val="115000"/>
              </a:lnSpc>
            </a:pPr>
            <a:r>
              <a:rPr sz="1000" b="1">
                <a:solidFill>
                  <a:srgbClr val="64748B"/>
                </a:solidFill>
                <a:latin typeface="Calibri"/>
              </a:rPr>
              <a:t>FILINGS</a:t>
            </a:r>
          </a:p>
        </p:txBody>
      </p:sp>
      <p:sp>
        <p:nvSpPr>
          <p:cNvPr id="19" name="Rectangle 18"/>
          <p:cNvSpPr/>
          <p:nvPr/>
        </p:nvSpPr>
        <p:spPr>
          <a:xfrm>
            <a:off x="3372535" y="4846320"/>
            <a:ext cx="2641015" cy="3810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72535" y="4992624"/>
            <a:ext cx="2641015" cy="457200"/>
          </a:xfrm>
          <a:prstGeom prst="rect">
            <a:avLst/>
          </a:prstGeom>
          <a:noFill/>
        </p:spPr>
        <p:txBody>
          <a:bodyPr wrap="square" anchor="t" lIns="0" rIns="0" tIns="0" bIns="0">
            <a:spAutoFit/>
          </a:bodyPr>
          <a:lstStyle/>
          <a:p>
            <a:pPr algn="l">
              <a:lnSpc>
                <a:spcPct val="100000"/>
              </a:lnSpc>
            </a:pPr>
            <a:r>
              <a:rPr sz="3000" b="1">
                <a:solidFill>
                  <a:srgbClr val="F43F5E"/>
                </a:solidFill>
                <a:latin typeface="Consolas"/>
              </a:rPr>
              <a:t>5</a:t>
            </a:r>
          </a:p>
        </p:txBody>
      </p:sp>
      <p:sp>
        <p:nvSpPr>
          <p:cNvPr id="21" name="TextBox 20"/>
          <p:cNvSpPr txBox="1"/>
          <p:nvPr/>
        </p:nvSpPr>
        <p:spPr>
          <a:xfrm>
            <a:off x="3372535" y="5486400"/>
            <a:ext cx="2641015" cy="365760"/>
          </a:xfrm>
          <a:prstGeom prst="rect">
            <a:avLst/>
          </a:prstGeom>
          <a:noFill/>
        </p:spPr>
        <p:txBody>
          <a:bodyPr wrap="square" anchor="t" lIns="0" rIns="0" tIns="0" bIns="0">
            <a:spAutoFit/>
          </a:bodyPr>
          <a:lstStyle/>
          <a:p>
            <a:pPr algn="l">
              <a:lnSpc>
                <a:spcPct val="115000"/>
              </a:lnSpc>
            </a:pPr>
            <a:r>
              <a:rPr sz="1000" b="1">
                <a:solidFill>
                  <a:srgbClr val="64748B"/>
                </a:solidFill>
                <a:latin typeface="Calibri"/>
              </a:rPr>
              <a:t>COMPANIES</a:t>
            </a:r>
          </a:p>
        </p:txBody>
      </p:sp>
      <p:sp>
        <p:nvSpPr>
          <p:cNvPr id="22" name="Rectangle 21"/>
          <p:cNvSpPr/>
          <p:nvPr/>
        </p:nvSpPr>
        <p:spPr>
          <a:xfrm>
            <a:off x="6178142" y="4846320"/>
            <a:ext cx="2641015"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8142" y="4992624"/>
            <a:ext cx="2641015" cy="457200"/>
          </a:xfrm>
          <a:prstGeom prst="rect">
            <a:avLst/>
          </a:prstGeom>
          <a:noFill/>
        </p:spPr>
        <p:txBody>
          <a:bodyPr wrap="square" anchor="t" lIns="0" rIns="0" tIns="0" bIns="0">
            <a:spAutoFit/>
          </a:bodyPr>
          <a:lstStyle/>
          <a:p>
            <a:pPr algn="l">
              <a:lnSpc>
                <a:spcPct val="100000"/>
              </a:lnSpc>
            </a:pPr>
            <a:r>
              <a:rPr sz="3000" b="1">
                <a:solidFill>
                  <a:srgbClr val="F59E0B"/>
                </a:solidFill>
                <a:latin typeface="Consolas"/>
              </a:rPr>
              <a:t>18,297</a:t>
            </a:r>
          </a:p>
        </p:txBody>
      </p:sp>
      <p:sp>
        <p:nvSpPr>
          <p:cNvPr id="24" name="TextBox 23"/>
          <p:cNvSpPr txBox="1"/>
          <p:nvPr/>
        </p:nvSpPr>
        <p:spPr>
          <a:xfrm>
            <a:off x="6178142" y="5486400"/>
            <a:ext cx="2641015" cy="365760"/>
          </a:xfrm>
          <a:prstGeom prst="rect">
            <a:avLst/>
          </a:prstGeom>
          <a:noFill/>
        </p:spPr>
        <p:txBody>
          <a:bodyPr wrap="square" anchor="t" lIns="0" rIns="0" tIns="0" bIns="0">
            <a:spAutoFit/>
          </a:bodyPr>
          <a:lstStyle/>
          <a:p>
            <a:pPr algn="l">
              <a:lnSpc>
                <a:spcPct val="115000"/>
              </a:lnSpc>
            </a:pPr>
            <a:r>
              <a:rPr sz="1000" b="1">
                <a:solidFill>
                  <a:srgbClr val="64748B"/>
                </a:solidFill>
                <a:latin typeface="Calibri"/>
              </a:rPr>
              <a:t>ATOMIC NODES</a:t>
            </a:r>
          </a:p>
        </p:txBody>
      </p:sp>
      <p:sp>
        <p:nvSpPr>
          <p:cNvPr id="25" name="Rectangle 24"/>
          <p:cNvSpPr/>
          <p:nvPr/>
        </p:nvSpPr>
        <p:spPr>
          <a:xfrm>
            <a:off x="8983749" y="4846320"/>
            <a:ext cx="2641015"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83749" y="4992624"/>
            <a:ext cx="2641015" cy="457200"/>
          </a:xfrm>
          <a:prstGeom prst="rect">
            <a:avLst/>
          </a:prstGeom>
          <a:noFill/>
        </p:spPr>
        <p:txBody>
          <a:bodyPr wrap="square" anchor="t" lIns="0" rIns="0" tIns="0" bIns="0">
            <a:spAutoFit/>
          </a:bodyPr>
          <a:lstStyle/>
          <a:p>
            <a:pPr algn="l">
              <a:lnSpc>
                <a:spcPct val="100000"/>
              </a:lnSpc>
            </a:pPr>
            <a:r>
              <a:rPr sz="3000" b="1">
                <a:solidFill>
                  <a:srgbClr val="3B82F6"/>
                </a:solidFill>
                <a:latin typeface="Consolas"/>
              </a:rPr>
              <a:t>140</a:t>
            </a:r>
          </a:p>
        </p:txBody>
      </p:sp>
      <p:sp>
        <p:nvSpPr>
          <p:cNvPr id="27" name="TextBox 26"/>
          <p:cNvSpPr txBox="1"/>
          <p:nvPr/>
        </p:nvSpPr>
        <p:spPr>
          <a:xfrm>
            <a:off x="8983749" y="5486400"/>
            <a:ext cx="2641015" cy="365760"/>
          </a:xfrm>
          <a:prstGeom prst="rect">
            <a:avLst/>
          </a:prstGeom>
          <a:noFill/>
        </p:spPr>
        <p:txBody>
          <a:bodyPr wrap="square" anchor="t" lIns="0" rIns="0" tIns="0" bIns="0">
            <a:spAutoFit/>
          </a:bodyPr>
          <a:lstStyle/>
          <a:p>
            <a:pPr algn="l">
              <a:lnSpc>
                <a:spcPct val="115000"/>
              </a:lnSpc>
            </a:pPr>
            <a:r>
              <a:rPr sz="1000" b="1">
                <a:solidFill>
                  <a:srgbClr val="64748B"/>
                </a:solidFill>
                <a:latin typeface="Calibri"/>
              </a:rPr>
              <a:t>BENCHMARK QUESTIONS</a:t>
            </a:r>
          </a:p>
        </p:txBody>
      </p:sp>
      <p:sp>
        <p:nvSpPr>
          <p:cNvPr id="28" name="TextBox 27"/>
          <p:cNvSpPr txBox="1"/>
          <p:nvPr/>
        </p:nvSpPr>
        <p:spPr>
          <a:xfrm>
            <a:off x="10527487" y="6382512"/>
            <a:ext cx="1097280" cy="274320"/>
          </a:xfrm>
          <a:prstGeom prst="rect">
            <a:avLst/>
          </a:prstGeom>
          <a:noFill/>
        </p:spPr>
        <p:txBody>
          <a:bodyPr wrap="square" anchor="t" lIns="0" rIns="0" tIns="0" bIns="0">
            <a:spAutoFit/>
          </a:bodyPr>
          <a:lstStyle/>
          <a:p>
            <a:pPr algn="r">
              <a:lnSpc>
                <a:spcPct val="115000"/>
              </a:lnSpc>
            </a:pPr>
            <a:r>
              <a:rPr sz="1000" b="0">
                <a:solidFill>
                  <a:srgbClr val="64748B"/>
                </a:solidFill>
                <a:latin typeface="Consola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48640"/>
            <a:ext cx="274320" cy="4445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9264" y="457200"/>
            <a:ext cx="7315200" cy="228600"/>
          </a:xfrm>
          <a:prstGeom prst="rect">
            <a:avLst/>
          </a:prstGeom>
          <a:noFill/>
        </p:spPr>
        <p:txBody>
          <a:bodyPr wrap="square" anchor="t" lIns="0" rIns="0" tIns="0" bIns="0">
            <a:spAutoFit/>
          </a:bodyPr>
          <a:lstStyle/>
          <a:p>
            <a:pPr algn="l">
              <a:lnSpc>
                <a:spcPct val="115000"/>
              </a:lnSpc>
            </a:pPr>
            <a:r>
              <a:rPr sz="1100" b="1">
                <a:solidFill>
                  <a:srgbClr val="64748B"/>
                </a:solidFill>
                <a:latin typeface="Calibri"/>
              </a:rPr>
              <a:t>RESEARCH QUESTION</a:t>
            </a:r>
          </a:p>
        </p:txBody>
      </p:sp>
      <p:sp>
        <p:nvSpPr>
          <p:cNvPr id="5" name="TextBox 4"/>
          <p:cNvSpPr txBox="1"/>
          <p:nvPr/>
        </p:nvSpPr>
        <p:spPr>
          <a:xfrm>
            <a:off x="566928" y="786384"/>
            <a:ext cx="11057839" cy="822960"/>
          </a:xfrm>
          <a:prstGeom prst="rect">
            <a:avLst/>
          </a:prstGeom>
          <a:noFill/>
        </p:spPr>
        <p:txBody>
          <a:bodyPr wrap="square" anchor="t" lIns="0" rIns="0" tIns="0" bIns="0">
            <a:spAutoFit/>
          </a:bodyPr>
          <a:lstStyle/>
          <a:p>
            <a:pPr algn="l">
              <a:lnSpc>
                <a:spcPct val="102000"/>
              </a:lnSpc>
            </a:pPr>
            <a:r>
              <a:rPr sz="3200" b="1">
                <a:solidFill>
                  <a:srgbClr val="0F172A"/>
                </a:solidFill>
                <a:latin typeface="Calibri"/>
              </a:rPr>
              <a:t>Does document structure decide which retrieval paradigm wins?</a:t>
            </a:r>
          </a:p>
        </p:txBody>
      </p:sp>
      <p:sp>
        <p:nvSpPr>
          <p:cNvPr id="6" name="TextBox 5"/>
          <p:cNvSpPr txBox="1"/>
          <p:nvPr/>
        </p:nvSpPr>
        <p:spPr>
          <a:xfrm>
            <a:off x="566928" y="1572768"/>
            <a:ext cx="9509760" cy="548640"/>
          </a:xfrm>
          <a:prstGeom prst="rect">
            <a:avLst/>
          </a:prstGeom>
          <a:noFill/>
        </p:spPr>
        <p:txBody>
          <a:bodyPr wrap="square" anchor="t" lIns="0" rIns="0" tIns="0" bIns="0">
            <a:spAutoFit/>
          </a:bodyPr>
          <a:lstStyle/>
          <a:p>
            <a:pPr algn="l">
              <a:lnSpc>
                <a:spcPct val="115000"/>
              </a:lnSpc>
            </a:pPr>
            <a:r>
              <a:rPr sz="1500" b="0">
                <a:solidFill>
                  <a:srgbClr val="64748B"/>
                </a:solidFill>
                <a:latin typeface="Calibri"/>
              </a:rPr>
              <a:t>The question stays open. No number in this deck answers it.</a:t>
            </a:r>
          </a:p>
        </p:txBody>
      </p:sp>
      <p:sp>
        <p:nvSpPr>
          <p:cNvPr id="7" name="TextBox 6"/>
          <p:cNvSpPr txBox="1"/>
          <p:nvPr/>
        </p:nvSpPr>
        <p:spPr>
          <a:xfrm>
            <a:off x="566928" y="2029968"/>
            <a:ext cx="548640" cy="365760"/>
          </a:xfrm>
          <a:prstGeom prst="rect">
            <a:avLst/>
          </a:prstGeom>
          <a:noFill/>
        </p:spPr>
        <p:txBody>
          <a:bodyPr wrap="square" anchor="t" lIns="0" rIns="0" tIns="0" bIns="0">
            <a:spAutoFit/>
          </a:bodyPr>
          <a:lstStyle/>
          <a:p>
            <a:pPr algn="l">
              <a:lnSpc>
                <a:spcPct val="115000"/>
              </a:lnSpc>
            </a:pPr>
            <a:r>
              <a:rPr sz="2000" b="1">
                <a:solidFill>
                  <a:srgbClr val="E2E8F0"/>
                </a:solidFill>
                <a:latin typeface="Consolas"/>
              </a:rPr>
              <a:t>01</a:t>
            </a:r>
          </a:p>
        </p:txBody>
      </p:sp>
      <p:sp>
        <p:nvSpPr>
          <p:cNvPr id="8" name="TextBox 7"/>
          <p:cNvSpPr txBox="1"/>
          <p:nvPr/>
        </p:nvSpPr>
        <p:spPr>
          <a:xfrm>
            <a:off x="1252728" y="2002536"/>
            <a:ext cx="10058400" cy="32004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Build three pipelines that differ only in how they index</a:t>
            </a:r>
          </a:p>
        </p:txBody>
      </p:sp>
      <p:sp>
        <p:nvSpPr>
          <p:cNvPr id="9" name="TextBox 8"/>
          <p:cNvSpPr txBox="1"/>
          <p:nvPr/>
        </p:nvSpPr>
        <p:spPr>
          <a:xfrm>
            <a:off x="1252728" y="2340864"/>
            <a:ext cx="9692640" cy="365760"/>
          </a:xfrm>
          <a:prstGeom prst="rect">
            <a:avLst/>
          </a:prstGeom>
          <a:noFill/>
        </p:spPr>
        <p:txBody>
          <a:bodyPr wrap="square" anchor="t" lIns="0" rIns="0" tIns="0" bIns="0">
            <a:spAutoFit/>
          </a:bodyPr>
          <a:lstStyle/>
          <a:p>
            <a:pPr algn="l">
              <a:lnSpc>
                <a:spcPct val="115000"/>
              </a:lnSpc>
            </a:pPr>
            <a:r>
              <a:rPr sz="1300" b="0">
                <a:solidFill>
                  <a:srgbClr val="64748B"/>
                </a:solidFill>
                <a:latin typeface="Calibri"/>
              </a:rPr>
              <a:t>Semantic vectors, BM25 term statistics, and a summary tree over each filing.</a:t>
            </a:r>
          </a:p>
        </p:txBody>
      </p:sp>
      <p:sp>
        <p:nvSpPr>
          <p:cNvPr id="10" name="TextBox 9"/>
          <p:cNvSpPr txBox="1"/>
          <p:nvPr/>
        </p:nvSpPr>
        <p:spPr>
          <a:xfrm>
            <a:off x="566928" y="2962656"/>
            <a:ext cx="548640" cy="365760"/>
          </a:xfrm>
          <a:prstGeom prst="rect">
            <a:avLst/>
          </a:prstGeom>
          <a:noFill/>
        </p:spPr>
        <p:txBody>
          <a:bodyPr wrap="square" anchor="t" lIns="0" rIns="0" tIns="0" bIns="0">
            <a:spAutoFit/>
          </a:bodyPr>
          <a:lstStyle/>
          <a:p>
            <a:pPr algn="l">
              <a:lnSpc>
                <a:spcPct val="115000"/>
              </a:lnSpc>
            </a:pPr>
            <a:r>
              <a:rPr sz="2000" b="1">
                <a:solidFill>
                  <a:srgbClr val="E2E8F0"/>
                </a:solidFill>
                <a:latin typeface="Consolas"/>
              </a:rPr>
              <a:t>02</a:t>
            </a:r>
          </a:p>
        </p:txBody>
      </p:sp>
      <p:sp>
        <p:nvSpPr>
          <p:cNvPr id="11" name="TextBox 10"/>
          <p:cNvSpPr txBox="1"/>
          <p:nvPr/>
        </p:nvSpPr>
        <p:spPr>
          <a:xfrm>
            <a:off x="1252728" y="2935224"/>
            <a:ext cx="10058400" cy="32004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Generate a benchmark with verified evidence</a:t>
            </a:r>
          </a:p>
        </p:txBody>
      </p:sp>
      <p:sp>
        <p:nvSpPr>
          <p:cNvPr id="12" name="TextBox 11"/>
          <p:cNvSpPr txBox="1"/>
          <p:nvPr/>
        </p:nvSpPr>
        <p:spPr>
          <a:xfrm>
            <a:off x="1252728" y="3273552"/>
            <a:ext cx="9692640" cy="365760"/>
          </a:xfrm>
          <a:prstGeom prst="rect">
            <a:avLst/>
          </a:prstGeom>
          <a:noFill/>
        </p:spPr>
        <p:txBody>
          <a:bodyPr wrap="square" anchor="t" lIns="0" rIns="0" tIns="0" bIns="0">
            <a:spAutoFit/>
          </a:bodyPr>
          <a:lstStyle/>
          <a:p>
            <a:pPr algn="l">
              <a:lnSpc>
                <a:spcPct val="115000"/>
              </a:lnSpc>
            </a:pPr>
            <a:r>
              <a:rPr sz="1300" b="0">
                <a:solidFill>
                  <a:srgbClr val="64748B"/>
                </a:solidFill>
                <a:latin typeface="Calibri"/>
              </a:rPr>
              <a:t>Two language models from different families propose and check every question.</a:t>
            </a:r>
          </a:p>
        </p:txBody>
      </p:sp>
      <p:sp>
        <p:nvSpPr>
          <p:cNvPr id="13" name="TextBox 12"/>
          <p:cNvSpPr txBox="1"/>
          <p:nvPr/>
        </p:nvSpPr>
        <p:spPr>
          <a:xfrm>
            <a:off x="566928" y="3895344"/>
            <a:ext cx="548640" cy="365760"/>
          </a:xfrm>
          <a:prstGeom prst="rect">
            <a:avLst/>
          </a:prstGeom>
          <a:noFill/>
        </p:spPr>
        <p:txBody>
          <a:bodyPr wrap="square" anchor="t" lIns="0" rIns="0" tIns="0" bIns="0">
            <a:spAutoFit/>
          </a:bodyPr>
          <a:lstStyle/>
          <a:p>
            <a:pPr algn="l">
              <a:lnSpc>
                <a:spcPct val="115000"/>
              </a:lnSpc>
            </a:pPr>
            <a:r>
              <a:rPr sz="2000" b="1">
                <a:solidFill>
                  <a:srgbClr val="E2E8F0"/>
                </a:solidFill>
                <a:latin typeface="Consolas"/>
              </a:rPr>
              <a:t>03</a:t>
            </a:r>
          </a:p>
        </p:txBody>
      </p:sp>
      <p:sp>
        <p:nvSpPr>
          <p:cNvPr id="14" name="TextBox 13"/>
          <p:cNvSpPr txBox="1"/>
          <p:nvPr/>
        </p:nvSpPr>
        <p:spPr>
          <a:xfrm>
            <a:off x="1252728" y="3867912"/>
            <a:ext cx="10058400" cy="32004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Measure retrieval, answer quality and cost separately</a:t>
            </a:r>
          </a:p>
        </p:txBody>
      </p:sp>
      <p:sp>
        <p:nvSpPr>
          <p:cNvPr id="15" name="TextBox 14"/>
          <p:cNvSpPr txBox="1"/>
          <p:nvPr/>
        </p:nvSpPr>
        <p:spPr>
          <a:xfrm>
            <a:off x="1252728" y="4206240"/>
            <a:ext cx="9692640" cy="365760"/>
          </a:xfrm>
          <a:prstGeom prst="rect">
            <a:avLst/>
          </a:prstGeom>
          <a:noFill/>
        </p:spPr>
        <p:txBody>
          <a:bodyPr wrap="square" anchor="t" lIns="0" rIns="0" tIns="0" bIns="0">
            <a:spAutoFit/>
          </a:bodyPr>
          <a:lstStyle/>
          <a:p>
            <a:pPr algn="l">
              <a:lnSpc>
                <a:spcPct val="115000"/>
              </a:lnSpc>
            </a:pPr>
            <a:r>
              <a:rPr sz="1300" b="0">
                <a:solidFill>
                  <a:srgbClr val="64748B"/>
                </a:solidFill>
                <a:latin typeface="Calibri"/>
              </a:rPr>
              <a:t>A paradigm can win on accuracy and lose on speed, so each metric stands on its own.</a:t>
            </a:r>
          </a:p>
        </p:txBody>
      </p:sp>
      <p:sp>
        <p:nvSpPr>
          <p:cNvPr id="16" name="TextBox 15"/>
          <p:cNvSpPr txBox="1"/>
          <p:nvPr/>
        </p:nvSpPr>
        <p:spPr>
          <a:xfrm>
            <a:off x="10527487" y="6382512"/>
            <a:ext cx="1097280" cy="274320"/>
          </a:xfrm>
          <a:prstGeom prst="rect">
            <a:avLst/>
          </a:prstGeom>
          <a:noFill/>
        </p:spPr>
        <p:txBody>
          <a:bodyPr wrap="square" anchor="t" lIns="0" rIns="0" tIns="0" bIns="0">
            <a:spAutoFit/>
          </a:bodyPr>
          <a:lstStyle/>
          <a:p>
            <a:pPr algn="r">
              <a:lnSpc>
                <a:spcPct val="115000"/>
              </a:lnSpc>
            </a:pPr>
            <a:r>
              <a:rPr sz="1000" b="0">
                <a:solidFill>
                  <a:srgbClr val="64748B"/>
                </a:solidFill>
                <a:latin typeface="Consola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274320" cy="4445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9264" y="384048"/>
            <a:ext cx="7315200" cy="228600"/>
          </a:xfrm>
          <a:prstGeom prst="rect">
            <a:avLst/>
          </a:prstGeom>
          <a:noFill/>
        </p:spPr>
        <p:txBody>
          <a:bodyPr wrap="square" anchor="t" lIns="0" rIns="0" tIns="0" bIns="0">
            <a:spAutoFit/>
          </a:bodyPr>
          <a:lstStyle/>
          <a:p>
            <a:pPr algn="l">
              <a:lnSpc>
                <a:spcPct val="115000"/>
              </a:lnSpc>
            </a:pPr>
            <a:r>
              <a:rPr sz="1100" b="1">
                <a:solidFill>
                  <a:srgbClr val="64748B"/>
                </a:solidFill>
                <a:latin typeface="Calibri"/>
              </a:rPr>
              <a:t>DESIGN</a:t>
            </a:r>
          </a:p>
        </p:txBody>
      </p:sp>
      <p:sp>
        <p:nvSpPr>
          <p:cNvPr id="5" name="TextBox 4"/>
          <p:cNvSpPr txBox="1"/>
          <p:nvPr/>
        </p:nvSpPr>
        <p:spPr>
          <a:xfrm>
            <a:off x="566928" y="694944"/>
            <a:ext cx="11057839" cy="548640"/>
          </a:xfrm>
          <a:prstGeom prst="rect">
            <a:avLst/>
          </a:prstGeom>
          <a:noFill/>
        </p:spPr>
        <p:txBody>
          <a:bodyPr wrap="square" anchor="t" lIns="0" rIns="0" tIns="0" bIns="0">
            <a:spAutoFit/>
          </a:bodyPr>
          <a:lstStyle/>
          <a:p>
            <a:pPr algn="l">
              <a:lnSpc>
                <a:spcPct val="102000"/>
              </a:lnSpc>
            </a:pPr>
            <a:r>
              <a:rPr sz="2800" b="1">
                <a:solidFill>
                  <a:srgbClr val="0F172A"/>
                </a:solidFill>
                <a:latin typeface="Calibri"/>
              </a:rPr>
              <a:t>Everything after retrieval stays constant</a:t>
            </a:r>
          </a:p>
        </p:txBody>
      </p:sp>
      <p:pic>
        <p:nvPicPr>
          <p:cNvPr id="6" name="Picture 5" descr="01-high-level-overview.png"/>
          <p:cNvPicPr>
            <a:picLocks noChangeAspect="1"/>
          </p:cNvPicPr>
          <p:nvPr/>
        </p:nvPicPr>
        <p:blipFill>
          <a:blip r:embed="rId2"/>
          <a:stretch>
            <a:fillRect/>
          </a:stretch>
        </p:blipFill>
        <p:spPr>
          <a:xfrm>
            <a:off x="3015475" y="1298448"/>
            <a:ext cx="6160744" cy="5148072"/>
          </a:xfrm>
          <a:prstGeom prst="rect">
            <a:avLst/>
          </a:prstGeom>
        </p:spPr>
      </p:pic>
      <p:sp>
        <p:nvSpPr>
          <p:cNvPr id="7" name="TextBox 6"/>
          <p:cNvSpPr txBox="1"/>
          <p:nvPr/>
        </p:nvSpPr>
        <p:spPr>
          <a:xfrm>
            <a:off x="10527487" y="6382512"/>
            <a:ext cx="1097280" cy="274320"/>
          </a:xfrm>
          <a:prstGeom prst="rect">
            <a:avLst/>
          </a:prstGeom>
          <a:noFill/>
        </p:spPr>
        <p:txBody>
          <a:bodyPr wrap="square" anchor="t" lIns="0" rIns="0" tIns="0" bIns="0">
            <a:spAutoFit/>
          </a:bodyPr>
          <a:lstStyle/>
          <a:p>
            <a:pPr algn="r">
              <a:lnSpc>
                <a:spcPct val="115000"/>
              </a:lnSpc>
            </a:pPr>
            <a:r>
              <a:rPr sz="1000" b="0">
                <a:solidFill>
                  <a:srgbClr val="64748B"/>
                </a:solidFill>
                <a:latin typeface="Consola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274320" cy="44450"/>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9264" y="384048"/>
            <a:ext cx="7315200" cy="228600"/>
          </a:xfrm>
          <a:prstGeom prst="rect">
            <a:avLst/>
          </a:prstGeom>
          <a:noFill/>
        </p:spPr>
        <p:txBody>
          <a:bodyPr wrap="square" anchor="t" lIns="0" rIns="0" tIns="0" bIns="0">
            <a:spAutoFit/>
          </a:bodyPr>
          <a:lstStyle/>
          <a:p>
            <a:pPr algn="l">
              <a:lnSpc>
                <a:spcPct val="115000"/>
              </a:lnSpc>
            </a:pPr>
            <a:r>
              <a:rPr sz="1100" b="1">
                <a:solidFill>
                  <a:srgbClr val="64748B"/>
                </a:solidFill>
                <a:latin typeface="Calibri"/>
              </a:rPr>
              <a:t>THE VARIABLE UNDER TEST</a:t>
            </a:r>
          </a:p>
        </p:txBody>
      </p:sp>
      <p:sp>
        <p:nvSpPr>
          <p:cNvPr id="5" name="TextBox 4"/>
          <p:cNvSpPr txBox="1"/>
          <p:nvPr/>
        </p:nvSpPr>
        <p:spPr>
          <a:xfrm>
            <a:off x="566928" y="694944"/>
            <a:ext cx="11057839" cy="548640"/>
          </a:xfrm>
          <a:prstGeom prst="rect">
            <a:avLst/>
          </a:prstGeom>
          <a:noFill/>
        </p:spPr>
        <p:txBody>
          <a:bodyPr wrap="square" anchor="t" lIns="0" rIns="0" tIns="0" bIns="0">
            <a:spAutoFit/>
          </a:bodyPr>
          <a:lstStyle/>
          <a:p>
            <a:pPr algn="l">
              <a:lnSpc>
                <a:spcPct val="102000"/>
              </a:lnSpc>
            </a:pPr>
            <a:r>
              <a:rPr sz="2800" b="1">
                <a:solidFill>
                  <a:srgbClr val="0F172A"/>
                </a:solidFill>
                <a:latin typeface="Calibri"/>
              </a:rPr>
              <a:t>Each paradigm indexes a different property</a:t>
            </a:r>
          </a:p>
        </p:txBody>
      </p:sp>
      <p:pic>
        <p:nvPicPr>
          <p:cNvPr id="6" name="Picture 5" descr="08-paradigm-comparison.png"/>
          <p:cNvPicPr>
            <a:picLocks noChangeAspect="1"/>
          </p:cNvPicPr>
          <p:nvPr/>
        </p:nvPicPr>
        <p:blipFill>
          <a:blip r:embed="rId2"/>
          <a:stretch>
            <a:fillRect/>
          </a:stretch>
        </p:blipFill>
        <p:spPr>
          <a:xfrm>
            <a:off x="1575038" y="1298448"/>
            <a:ext cx="9041619" cy="5148072"/>
          </a:xfrm>
          <a:prstGeom prst="rect">
            <a:avLst/>
          </a:prstGeom>
        </p:spPr>
      </p:pic>
      <p:sp>
        <p:nvSpPr>
          <p:cNvPr id="7" name="TextBox 6"/>
          <p:cNvSpPr txBox="1"/>
          <p:nvPr/>
        </p:nvSpPr>
        <p:spPr>
          <a:xfrm>
            <a:off x="10527487" y="6382512"/>
            <a:ext cx="1097280" cy="274320"/>
          </a:xfrm>
          <a:prstGeom prst="rect">
            <a:avLst/>
          </a:prstGeom>
          <a:noFill/>
        </p:spPr>
        <p:txBody>
          <a:bodyPr wrap="square" anchor="t" lIns="0" rIns="0" tIns="0" bIns="0">
            <a:spAutoFit/>
          </a:bodyPr>
          <a:lstStyle/>
          <a:p>
            <a:pPr algn="r">
              <a:lnSpc>
                <a:spcPct val="115000"/>
              </a:lnSpc>
            </a:pPr>
            <a:r>
              <a:rPr sz="1000" b="0">
                <a:solidFill>
                  <a:srgbClr val="64748B"/>
                </a:solidFill>
                <a:latin typeface="Consola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48640"/>
            <a:ext cx="274320" cy="444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9264" y="457200"/>
            <a:ext cx="7315200" cy="228600"/>
          </a:xfrm>
          <a:prstGeom prst="rect">
            <a:avLst/>
          </a:prstGeom>
          <a:noFill/>
        </p:spPr>
        <p:txBody>
          <a:bodyPr wrap="square" anchor="t" lIns="0" rIns="0" tIns="0" bIns="0">
            <a:spAutoFit/>
          </a:bodyPr>
          <a:lstStyle/>
          <a:p>
            <a:pPr algn="l">
              <a:lnSpc>
                <a:spcPct val="115000"/>
              </a:lnSpc>
            </a:pPr>
            <a:r>
              <a:rPr sz="1100" b="1">
                <a:solidFill>
                  <a:srgbClr val="64748B"/>
                </a:solidFill>
                <a:latin typeface="Calibri"/>
              </a:rPr>
              <a:t>FOUNDATIONS</a:t>
            </a:r>
          </a:p>
        </p:txBody>
      </p:sp>
      <p:sp>
        <p:nvSpPr>
          <p:cNvPr id="5" name="TextBox 4"/>
          <p:cNvSpPr txBox="1"/>
          <p:nvPr/>
        </p:nvSpPr>
        <p:spPr>
          <a:xfrm>
            <a:off x="566928" y="786384"/>
            <a:ext cx="11057839" cy="822960"/>
          </a:xfrm>
          <a:prstGeom prst="rect">
            <a:avLst/>
          </a:prstGeom>
          <a:noFill/>
        </p:spPr>
        <p:txBody>
          <a:bodyPr wrap="square" anchor="t" lIns="0" rIns="0" tIns="0" bIns="0">
            <a:spAutoFit/>
          </a:bodyPr>
          <a:lstStyle/>
          <a:p>
            <a:pPr algn="l">
              <a:lnSpc>
                <a:spcPct val="102000"/>
              </a:lnSpc>
            </a:pPr>
            <a:r>
              <a:rPr sz="3200" b="1">
                <a:solidFill>
                  <a:srgbClr val="0F172A"/>
                </a:solidFill>
                <a:latin typeface="Calibri"/>
              </a:rPr>
              <a:t>What the project pins down before running anything</a:t>
            </a:r>
          </a:p>
        </p:txBody>
      </p:sp>
      <p:sp>
        <p:nvSpPr>
          <p:cNvPr id="6" name="TextBox 5"/>
          <p:cNvSpPr txBox="1"/>
          <p:nvPr/>
        </p:nvSpPr>
        <p:spPr>
          <a:xfrm>
            <a:off x="566928" y="1572768"/>
            <a:ext cx="9509760" cy="548640"/>
          </a:xfrm>
          <a:prstGeom prst="rect">
            <a:avLst/>
          </a:prstGeom>
          <a:noFill/>
        </p:spPr>
        <p:txBody>
          <a:bodyPr wrap="square" anchor="t" lIns="0" rIns="0" tIns="0" bIns="0">
            <a:spAutoFit/>
          </a:bodyPr>
          <a:lstStyle/>
          <a:p>
            <a:pPr algn="l">
              <a:lnSpc>
                <a:spcPct val="115000"/>
              </a:lnSpc>
            </a:pPr>
            <a:r>
              <a:rPr sz="1500" b="0">
                <a:solidFill>
                  <a:srgbClr val="64748B"/>
                </a:solidFill>
                <a:latin typeface="Calibri"/>
              </a:rPr>
              <a:t>Scope, tests and reading, each settled with a number or a citation.</a:t>
            </a:r>
          </a:p>
        </p:txBody>
      </p:sp>
      <p:sp>
        <p:nvSpPr>
          <p:cNvPr id="7" name="Rectangle 6"/>
          <p:cNvSpPr/>
          <p:nvPr/>
        </p:nvSpPr>
        <p:spPr>
          <a:xfrm>
            <a:off x="566928" y="2029968"/>
            <a:ext cx="50800" cy="841248"/>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2029968"/>
            <a:ext cx="4480560" cy="640080"/>
          </a:xfrm>
          <a:prstGeom prst="rect">
            <a:avLst/>
          </a:prstGeom>
          <a:noFill/>
        </p:spPr>
        <p:txBody>
          <a:bodyPr wrap="square" anchor="t" lIns="0" rIns="0" tIns="0" bIns="0">
            <a:spAutoFit/>
          </a:bodyPr>
          <a:lstStyle/>
          <a:p>
            <a:pPr algn="l">
              <a:lnSpc>
                <a:spcPct val="115000"/>
              </a:lnSpc>
            </a:pPr>
            <a:r>
              <a:rPr sz="1600" b="1">
                <a:solidFill>
                  <a:srgbClr val="0F172A"/>
                </a:solidFill>
                <a:latin typeface="Calibri"/>
              </a:rPr>
              <a:t>The corpus carries a stated size</a:t>
            </a:r>
          </a:p>
        </p:txBody>
      </p:sp>
      <p:sp>
        <p:nvSpPr>
          <p:cNvPr id="9" name="TextBox 8"/>
          <p:cNvSpPr txBox="1"/>
          <p:nvPr/>
        </p:nvSpPr>
        <p:spPr>
          <a:xfrm>
            <a:off x="5596128" y="2029968"/>
            <a:ext cx="6035040" cy="822960"/>
          </a:xfrm>
          <a:prstGeom prst="rect">
            <a:avLst/>
          </a:prstGeom>
          <a:noFill/>
        </p:spPr>
        <p:txBody>
          <a:bodyPr wrap="square" anchor="t" lIns="0" rIns="0" tIns="0" bIns="0">
            <a:spAutoFit/>
          </a:bodyPr>
          <a:lstStyle/>
          <a:p>
            <a:pPr algn="l">
              <a:lnSpc>
                <a:spcPct val="130000"/>
              </a:lnSpc>
            </a:pPr>
            <a:r>
              <a:rPr sz="1300" b="0">
                <a:solidFill>
                  <a:srgbClr val="64748B"/>
                </a:solidFill>
                <a:latin typeface="Calibri"/>
              </a:rPr>
              <a:t>13 filings across 5 companies give 18,297 addressable nodes, counted rather than estimated.</a:t>
            </a:r>
          </a:p>
        </p:txBody>
      </p:sp>
      <p:sp>
        <p:nvSpPr>
          <p:cNvPr id="10" name="Rectangle 9"/>
          <p:cNvSpPr/>
          <p:nvPr/>
        </p:nvSpPr>
        <p:spPr>
          <a:xfrm>
            <a:off x="566928" y="3108960"/>
            <a:ext cx="50800" cy="841248"/>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3108960"/>
            <a:ext cx="4480560" cy="640080"/>
          </a:xfrm>
          <a:prstGeom prst="rect">
            <a:avLst/>
          </a:prstGeom>
          <a:noFill/>
        </p:spPr>
        <p:txBody>
          <a:bodyPr wrap="square" anchor="t" lIns="0" rIns="0" tIns="0" bIns="0">
            <a:spAutoFit/>
          </a:bodyPr>
          <a:lstStyle/>
          <a:p>
            <a:pPr algn="l">
              <a:lnSpc>
                <a:spcPct val="115000"/>
              </a:lnSpc>
            </a:pPr>
            <a:r>
              <a:rPr sz="1600" b="1">
                <a:solidFill>
                  <a:srgbClr val="0F172A"/>
                </a:solidFill>
                <a:latin typeface="Calibri"/>
              </a:rPr>
              <a:t>Tests cover every stage of the pipeline</a:t>
            </a:r>
          </a:p>
        </p:txBody>
      </p:sp>
      <p:sp>
        <p:nvSpPr>
          <p:cNvPr id="12" name="TextBox 11"/>
          <p:cNvSpPr txBox="1"/>
          <p:nvPr/>
        </p:nvSpPr>
        <p:spPr>
          <a:xfrm>
            <a:off x="5596128" y="3108960"/>
            <a:ext cx="6035040" cy="822960"/>
          </a:xfrm>
          <a:prstGeom prst="rect">
            <a:avLst/>
          </a:prstGeom>
          <a:noFill/>
        </p:spPr>
        <p:txBody>
          <a:bodyPr wrap="square" anchor="t" lIns="0" rIns="0" tIns="0" bIns="0">
            <a:spAutoFit/>
          </a:bodyPr>
          <a:lstStyle/>
          <a:p>
            <a:pPr algn="l">
              <a:lnSpc>
                <a:spcPct val="130000"/>
              </a:lnSpc>
            </a:pPr>
            <a:r>
              <a:rPr sz="1300" b="0">
                <a:solidFill>
                  <a:srgbClr val="64748B"/>
                </a:solidFill>
                <a:latin typeface="Calibri"/>
              </a:rPr>
              <a:t>339 tests cover ingestion, all three retrieval arms, dataset generation and the judge.</a:t>
            </a:r>
          </a:p>
        </p:txBody>
      </p:sp>
      <p:sp>
        <p:nvSpPr>
          <p:cNvPr id="13" name="Rectangle 12"/>
          <p:cNvSpPr/>
          <p:nvPr/>
        </p:nvSpPr>
        <p:spPr>
          <a:xfrm>
            <a:off x="566928" y="4187952"/>
            <a:ext cx="50800"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4187952"/>
            <a:ext cx="4480560" cy="640080"/>
          </a:xfrm>
          <a:prstGeom prst="rect">
            <a:avLst/>
          </a:prstGeom>
          <a:noFill/>
        </p:spPr>
        <p:txBody>
          <a:bodyPr wrap="square" anchor="t" lIns="0" rIns="0" tIns="0" bIns="0">
            <a:spAutoFit/>
          </a:bodyPr>
          <a:lstStyle/>
          <a:p>
            <a:pPr algn="l">
              <a:lnSpc>
                <a:spcPct val="115000"/>
              </a:lnSpc>
            </a:pPr>
            <a:r>
              <a:rPr sz="1600" b="1">
                <a:solidFill>
                  <a:srgbClr val="0F172A"/>
                </a:solidFill>
                <a:latin typeface="Calibri"/>
              </a:rPr>
              <a:t>The review includes financial question answering</a:t>
            </a:r>
          </a:p>
        </p:txBody>
      </p:sp>
      <p:sp>
        <p:nvSpPr>
          <p:cNvPr id="15" name="TextBox 14"/>
          <p:cNvSpPr txBox="1"/>
          <p:nvPr/>
        </p:nvSpPr>
        <p:spPr>
          <a:xfrm>
            <a:off x="5596128" y="4187952"/>
            <a:ext cx="6035040" cy="822960"/>
          </a:xfrm>
          <a:prstGeom prst="rect">
            <a:avLst/>
          </a:prstGeom>
          <a:noFill/>
        </p:spPr>
        <p:txBody>
          <a:bodyPr wrap="square" anchor="t" lIns="0" rIns="0" tIns="0" bIns="0">
            <a:spAutoFit/>
          </a:bodyPr>
          <a:lstStyle/>
          <a:p>
            <a:pPr algn="l">
              <a:lnSpc>
                <a:spcPct val="130000"/>
              </a:lnSpc>
            </a:pPr>
            <a:r>
              <a:rPr sz="1300" b="0">
                <a:solidFill>
                  <a:srgbClr val="64748B"/>
                </a:solidFill>
                <a:latin typeface="Calibri"/>
              </a:rPr>
              <a:t>FinQA (Chen et al., 2021) studies question answering over financial filings. The dissertation widens this section.</a:t>
            </a:r>
          </a:p>
        </p:txBody>
      </p:sp>
      <p:sp>
        <p:nvSpPr>
          <p:cNvPr id="16" name="TextBox 15"/>
          <p:cNvSpPr txBox="1"/>
          <p:nvPr/>
        </p:nvSpPr>
        <p:spPr>
          <a:xfrm>
            <a:off x="566928" y="5715000"/>
            <a:ext cx="10881360" cy="457200"/>
          </a:xfrm>
          <a:prstGeom prst="rect">
            <a:avLst/>
          </a:prstGeom>
          <a:noFill/>
        </p:spPr>
        <p:txBody>
          <a:bodyPr wrap="square" anchor="t" lIns="0" rIns="0" tIns="0" bIns="0">
            <a:spAutoFit/>
          </a:bodyPr>
          <a:lstStyle/>
          <a:p>
            <a:pPr algn="l">
              <a:lnSpc>
                <a:spcPct val="115000"/>
              </a:lnSpc>
            </a:pPr>
            <a:r>
              <a:rPr sz="1300" b="1">
                <a:solidFill>
                  <a:srgbClr val="0F172A"/>
                </a:solidFill>
                <a:latin typeface="Calibri"/>
              </a:rPr>
              <a:t>The rest of this video shows the software running.</a:t>
            </a:r>
          </a:p>
        </p:txBody>
      </p:sp>
      <p:sp>
        <p:nvSpPr>
          <p:cNvPr id="17" name="TextBox 16"/>
          <p:cNvSpPr txBox="1"/>
          <p:nvPr/>
        </p:nvSpPr>
        <p:spPr>
          <a:xfrm>
            <a:off x="10527487" y="6382512"/>
            <a:ext cx="1097280" cy="274320"/>
          </a:xfrm>
          <a:prstGeom prst="rect">
            <a:avLst/>
          </a:prstGeom>
          <a:noFill/>
        </p:spPr>
        <p:txBody>
          <a:bodyPr wrap="square" anchor="t" lIns="0" rIns="0" tIns="0" bIns="0">
            <a:spAutoFit/>
          </a:bodyPr>
          <a:lstStyle/>
          <a:p>
            <a:pPr algn="r">
              <a:lnSpc>
                <a:spcPct val="115000"/>
              </a:lnSpc>
            </a:pPr>
            <a:r>
              <a:rPr sz="1000" b="0">
                <a:solidFill>
                  <a:srgbClr val="64748B"/>
                </a:solidFill>
                <a:latin typeface="Consola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48640"/>
            <a:ext cx="274320" cy="4445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9264" y="457200"/>
            <a:ext cx="7315200" cy="228600"/>
          </a:xfrm>
          <a:prstGeom prst="rect">
            <a:avLst/>
          </a:prstGeom>
          <a:noFill/>
        </p:spPr>
        <p:txBody>
          <a:bodyPr wrap="square" anchor="t" lIns="0" rIns="0" tIns="0" bIns="0">
            <a:spAutoFit/>
          </a:bodyPr>
          <a:lstStyle/>
          <a:p>
            <a:pPr algn="l">
              <a:lnSpc>
                <a:spcPct val="115000"/>
              </a:lnSpc>
            </a:pPr>
            <a:r>
              <a:rPr sz="1100" b="1">
                <a:solidFill>
                  <a:srgbClr val="64748B"/>
                </a:solidFill>
                <a:latin typeface="Calibri"/>
              </a:rPr>
              <a:t>STATUS</a:t>
            </a:r>
          </a:p>
        </p:txBody>
      </p:sp>
      <p:sp>
        <p:nvSpPr>
          <p:cNvPr id="5" name="TextBox 4"/>
          <p:cNvSpPr txBox="1"/>
          <p:nvPr/>
        </p:nvSpPr>
        <p:spPr>
          <a:xfrm>
            <a:off x="566928" y="786384"/>
            <a:ext cx="11057839" cy="822960"/>
          </a:xfrm>
          <a:prstGeom prst="rect">
            <a:avLst/>
          </a:prstGeom>
          <a:noFill/>
        </p:spPr>
        <p:txBody>
          <a:bodyPr wrap="square" anchor="t" lIns="0" rIns="0" tIns="0" bIns="0">
            <a:spAutoFit/>
          </a:bodyPr>
          <a:lstStyle/>
          <a:p>
            <a:pPr algn="l">
              <a:lnSpc>
                <a:spcPct val="102000"/>
              </a:lnSpc>
            </a:pPr>
            <a:r>
              <a:rPr sz="3200" b="1">
                <a:solidFill>
                  <a:srgbClr val="0F172A"/>
                </a:solidFill>
                <a:latin typeface="Calibri"/>
              </a:rPr>
              <a:t>Six phases stand complete. The benchmark has not run.</a:t>
            </a:r>
          </a:p>
        </p:txBody>
      </p:sp>
      <p:sp>
        <p:nvSpPr>
          <p:cNvPr id="6" name="TextBox 5"/>
          <p:cNvSpPr txBox="1"/>
          <p:nvPr/>
        </p:nvSpPr>
        <p:spPr>
          <a:xfrm>
            <a:off x="566928" y="1572768"/>
            <a:ext cx="9509760" cy="548640"/>
          </a:xfrm>
          <a:prstGeom prst="rect">
            <a:avLst/>
          </a:prstGeom>
          <a:noFill/>
        </p:spPr>
        <p:txBody>
          <a:bodyPr wrap="square" anchor="t" lIns="0" rIns="0" tIns="0" bIns="0">
            <a:spAutoFit/>
          </a:bodyPr>
          <a:lstStyle/>
          <a:p>
            <a:pPr algn="l">
              <a:lnSpc>
                <a:spcPct val="115000"/>
              </a:lnSpc>
            </a:pPr>
            <a:r>
              <a:rPr sz="1500" b="0">
                <a:solidFill>
                  <a:srgbClr val="64748B"/>
                </a:solidFill>
                <a:latin typeface="Calibri"/>
              </a:rPr>
              <a:t>Verified against the repository, the test suite and the database on 20 August 2026.</a:t>
            </a:r>
          </a:p>
        </p:txBody>
      </p:sp>
      <p:sp>
        <p:nvSpPr>
          <p:cNvPr id="7" name="Rectangle 6"/>
          <p:cNvSpPr/>
          <p:nvPr/>
        </p:nvSpPr>
        <p:spPr>
          <a:xfrm>
            <a:off x="566928" y="2029968"/>
            <a:ext cx="2079894" cy="38100"/>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176272"/>
            <a:ext cx="2079894" cy="457200"/>
          </a:xfrm>
          <a:prstGeom prst="rect">
            <a:avLst/>
          </a:prstGeom>
          <a:noFill/>
        </p:spPr>
        <p:txBody>
          <a:bodyPr wrap="square" anchor="t" lIns="0" rIns="0" tIns="0" bIns="0">
            <a:spAutoFit/>
          </a:bodyPr>
          <a:lstStyle/>
          <a:p>
            <a:pPr algn="l">
              <a:lnSpc>
                <a:spcPct val="100000"/>
              </a:lnSpc>
            </a:pPr>
            <a:r>
              <a:rPr sz="3000" b="1">
                <a:solidFill>
                  <a:srgbClr val="22C55E"/>
                </a:solidFill>
                <a:latin typeface="Consolas"/>
              </a:rPr>
              <a:t>339</a:t>
            </a:r>
          </a:p>
        </p:txBody>
      </p:sp>
      <p:sp>
        <p:nvSpPr>
          <p:cNvPr id="9" name="TextBox 8"/>
          <p:cNvSpPr txBox="1"/>
          <p:nvPr/>
        </p:nvSpPr>
        <p:spPr>
          <a:xfrm>
            <a:off x="566928" y="2670048"/>
            <a:ext cx="2079894" cy="365760"/>
          </a:xfrm>
          <a:prstGeom prst="rect">
            <a:avLst/>
          </a:prstGeom>
          <a:noFill/>
        </p:spPr>
        <p:txBody>
          <a:bodyPr wrap="square" anchor="t" lIns="0" rIns="0" tIns="0" bIns="0">
            <a:spAutoFit/>
          </a:bodyPr>
          <a:lstStyle/>
          <a:p>
            <a:pPr algn="l">
              <a:lnSpc>
                <a:spcPct val="115000"/>
              </a:lnSpc>
            </a:pPr>
            <a:r>
              <a:rPr sz="1000" b="1">
                <a:solidFill>
                  <a:srgbClr val="64748B"/>
                </a:solidFill>
                <a:latin typeface="Calibri"/>
              </a:rPr>
              <a:t>TESTS PASSING</a:t>
            </a:r>
          </a:p>
        </p:txBody>
      </p:sp>
      <p:sp>
        <p:nvSpPr>
          <p:cNvPr id="10" name="Rectangle 9"/>
          <p:cNvSpPr/>
          <p:nvPr/>
        </p:nvSpPr>
        <p:spPr>
          <a:xfrm>
            <a:off x="2811414" y="2029968"/>
            <a:ext cx="2079894" cy="38100"/>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11414" y="2176272"/>
            <a:ext cx="2079894" cy="457200"/>
          </a:xfrm>
          <a:prstGeom prst="rect">
            <a:avLst/>
          </a:prstGeom>
          <a:noFill/>
        </p:spPr>
        <p:txBody>
          <a:bodyPr wrap="square" anchor="t" lIns="0" rIns="0" tIns="0" bIns="0">
            <a:spAutoFit/>
          </a:bodyPr>
          <a:lstStyle/>
          <a:p>
            <a:pPr algn="l">
              <a:lnSpc>
                <a:spcPct val="100000"/>
              </a:lnSpc>
            </a:pPr>
            <a:r>
              <a:rPr sz="3000" b="1">
                <a:solidFill>
                  <a:srgbClr val="22C55E"/>
                </a:solidFill>
                <a:latin typeface="Consolas"/>
              </a:rPr>
              <a:t>13</a:t>
            </a:r>
          </a:p>
        </p:txBody>
      </p:sp>
      <p:sp>
        <p:nvSpPr>
          <p:cNvPr id="12" name="TextBox 11"/>
          <p:cNvSpPr txBox="1"/>
          <p:nvPr/>
        </p:nvSpPr>
        <p:spPr>
          <a:xfrm>
            <a:off x="2811414" y="2670048"/>
            <a:ext cx="2079894" cy="365760"/>
          </a:xfrm>
          <a:prstGeom prst="rect">
            <a:avLst/>
          </a:prstGeom>
          <a:noFill/>
        </p:spPr>
        <p:txBody>
          <a:bodyPr wrap="square" anchor="t" lIns="0" rIns="0" tIns="0" bIns="0">
            <a:spAutoFit/>
          </a:bodyPr>
          <a:lstStyle/>
          <a:p>
            <a:pPr algn="l">
              <a:lnSpc>
                <a:spcPct val="115000"/>
              </a:lnSpc>
            </a:pPr>
            <a:r>
              <a:rPr sz="1000" b="1">
                <a:solidFill>
                  <a:srgbClr val="64748B"/>
                </a:solidFill>
                <a:latin typeface="Calibri"/>
              </a:rPr>
              <a:t>FILINGS INGESTED</a:t>
            </a:r>
          </a:p>
        </p:txBody>
      </p:sp>
      <p:sp>
        <p:nvSpPr>
          <p:cNvPr id="13" name="Rectangle 12"/>
          <p:cNvSpPr/>
          <p:nvPr/>
        </p:nvSpPr>
        <p:spPr>
          <a:xfrm>
            <a:off x="5055900" y="2029968"/>
            <a:ext cx="2079894" cy="38100"/>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55900" y="2176272"/>
            <a:ext cx="2079894" cy="457200"/>
          </a:xfrm>
          <a:prstGeom prst="rect">
            <a:avLst/>
          </a:prstGeom>
          <a:noFill/>
        </p:spPr>
        <p:txBody>
          <a:bodyPr wrap="square" anchor="t" lIns="0" rIns="0" tIns="0" bIns="0">
            <a:spAutoFit/>
          </a:bodyPr>
          <a:lstStyle/>
          <a:p>
            <a:pPr algn="l">
              <a:lnSpc>
                <a:spcPct val="100000"/>
              </a:lnSpc>
            </a:pPr>
            <a:r>
              <a:rPr sz="3000" b="1">
                <a:solidFill>
                  <a:srgbClr val="22C55E"/>
                </a:solidFill>
                <a:latin typeface="Consolas"/>
              </a:rPr>
              <a:t>140</a:t>
            </a:r>
          </a:p>
        </p:txBody>
      </p:sp>
      <p:sp>
        <p:nvSpPr>
          <p:cNvPr id="15" name="TextBox 14"/>
          <p:cNvSpPr txBox="1"/>
          <p:nvPr/>
        </p:nvSpPr>
        <p:spPr>
          <a:xfrm>
            <a:off x="5055900" y="2670048"/>
            <a:ext cx="2079894" cy="365760"/>
          </a:xfrm>
          <a:prstGeom prst="rect">
            <a:avLst/>
          </a:prstGeom>
          <a:noFill/>
        </p:spPr>
        <p:txBody>
          <a:bodyPr wrap="square" anchor="t" lIns="0" rIns="0" tIns="0" bIns="0">
            <a:spAutoFit/>
          </a:bodyPr>
          <a:lstStyle/>
          <a:p>
            <a:pPr algn="l">
              <a:lnSpc>
                <a:spcPct val="115000"/>
              </a:lnSpc>
            </a:pPr>
            <a:r>
              <a:rPr sz="1000" b="1">
                <a:solidFill>
                  <a:srgbClr val="64748B"/>
                </a:solidFill>
                <a:latin typeface="Calibri"/>
              </a:rPr>
              <a:t>QUESTIONS GENERATED</a:t>
            </a:r>
          </a:p>
        </p:txBody>
      </p:sp>
      <p:sp>
        <p:nvSpPr>
          <p:cNvPr id="16" name="Rectangle 15"/>
          <p:cNvSpPr/>
          <p:nvPr/>
        </p:nvSpPr>
        <p:spPr>
          <a:xfrm>
            <a:off x="7300386" y="2029968"/>
            <a:ext cx="2079894" cy="3810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00386" y="2176272"/>
            <a:ext cx="2079894" cy="457200"/>
          </a:xfrm>
          <a:prstGeom prst="rect">
            <a:avLst/>
          </a:prstGeom>
          <a:noFill/>
        </p:spPr>
        <p:txBody>
          <a:bodyPr wrap="square" anchor="t" lIns="0" rIns="0" tIns="0" bIns="0">
            <a:spAutoFit/>
          </a:bodyPr>
          <a:lstStyle/>
          <a:p>
            <a:pPr algn="l">
              <a:lnSpc>
                <a:spcPct val="100000"/>
              </a:lnSpc>
            </a:pPr>
            <a:r>
              <a:rPr sz="3000" b="1">
                <a:solidFill>
                  <a:srgbClr val="EF4444"/>
                </a:solidFill>
                <a:latin typeface="Consolas"/>
              </a:rPr>
              <a:t>0</a:t>
            </a:r>
          </a:p>
        </p:txBody>
      </p:sp>
      <p:sp>
        <p:nvSpPr>
          <p:cNvPr id="18" name="TextBox 17"/>
          <p:cNvSpPr txBox="1"/>
          <p:nvPr/>
        </p:nvSpPr>
        <p:spPr>
          <a:xfrm>
            <a:off x="7300386" y="2670048"/>
            <a:ext cx="2079894" cy="365760"/>
          </a:xfrm>
          <a:prstGeom prst="rect">
            <a:avLst/>
          </a:prstGeom>
          <a:noFill/>
        </p:spPr>
        <p:txBody>
          <a:bodyPr wrap="square" anchor="t" lIns="0" rIns="0" tIns="0" bIns="0">
            <a:spAutoFit/>
          </a:bodyPr>
          <a:lstStyle/>
          <a:p>
            <a:pPr algn="l">
              <a:lnSpc>
                <a:spcPct val="115000"/>
              </a:lnSpc>
            </a:pPr>
            <a:r>
              <a:rPr sz="1000" b="1">
                <a:solidFill>
                  <a:srgbClr val="64748B"/>
                </a:solidFill>
                <a:latin typeface="Calibri"/>
              </a:rPr>
              <a:t>BENCHMARK ROWS</a:t>
            </a:r>
          </a:p>
        </p:txBody>
      </p:sp>
      <p:sp>
        <p:nvSpPr>
          <p:cNvPr id="19" name="Rectangle 18"/>
          <p:cNvSpPr/>
          <p:nvPr/>
        </p:nvSpPr>
        <p:spPr>
          <a:xfrm>
            <a:off x="9544872" y="2029968"/>
            <a:ext cx="2079894" cy="3810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44872" y="2176272"/>
            <a:ext cx="2079894" cy="457200"/>
          </a:xfrm>
          <a:prstGeom prst="rect">
            <a:avLst/>
          </a:prstGeom>
          <a:noFill/>
        </p:spPr>
        <p:txBody>
          <a:bodyPr wrap="square" anchor="t" lIns="0" rIns="0" tIns="0" bIns="0">
            <a:spAutoFit/>
          </a:bodyPr>
          <a:lstStyle/>
          <a:p>
            <a:pPr algn="l">
              <a:lnSpc>
                <a:spcPct val="100000"/>
              </a:lnSpc>
            </a:pPr>
            <a:r>
              <a:rPr sz="3000" b="1">
                <a:solidFill>
                  <a:srgbClr val="EF4444"/>
                </a:solidFill>
                <a:latin typeface="Consolas"/>
              </a:rPr>
              <a:t>20</a:t>
            </a:r>
          </a:p>
        </p:txBody>
      </p:sp>
      <p:sp>
        <p:nvSpPr>
          <p:cNvPr id="21" name="TextBox 20"/>
          <p:cNvSpPr txBox="1"/>
          <p:nvPr/>
        </p:nvSpPr>
        <p:spPr>
          <a:xfrm>
            <a:off x="9544872" y="2670048"/>
            <a:ext cx="2079894" cy="365760"/>
          </a:xfrm>
          <a:prstGeom prst="rect">
            <a:avLst/>
          </a:prstGeom>
          <a:noFill/>
        </p:spPr>
        <p:txBody>
          <a:bodyPr wrap="square" anchor="t" lIns="0" rIns="0" tIns="0" bIns="0">
            <a:spAutoFit/>
          </a:bodyPr>
          <a:lstStyle/>
          <a:p>
            <a:pPr algn="l">
              <a:lnSpc>
                <a:spcPct val="115000"/>
              </a:lnSpc>
            </a:pPr>
            <a:r>
              <a:rPr sz="1000" b="1">
                <a:solidFill>
                  <a:srgbClr val="64748B"/>
                </a:solidFill>
                <a:latin typeface="Calibri"/>
              </a:rPr>
              <a:t>LABELS OUTSTANDING</a:t>
            </a:r>
          </a:p>
        </p:txBody>
      </p:sp>
      <p:sp>
        <p:nvSpPr>
          <p:cNvPr id="22" name="TextBox 21"/>
          <p:cNvSpPr txBox="1"/>
          <p:nvPr/>
        </p:nvSpPr>
        <p:spPr>
          <a:xfrm>
            <a:off x="566928" y="3611880"/>
            <a:ext cx="5120640" cy="32004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Built and tested</a:t>
            </a:r>
          </a:p>
        </p:txBody>
      </p:sp>
      <p:sp>
        <p:nvSpPr>
          <p:cNvPr id="23" name="TextBox 22"/>
          <p:cNvSpPr txBox="1"/>
          <p:nvPr/>
        </p:nvSpPr>
        <p:spPr>
          <a:xfrm>
            <a:off x="566928" y="3995928"/>
            <a:ext cx="4937760" cy="1645920"/>
          </a:xfrm>
          <a:prstGeom prst="rect">
            <a:avLst/>
          </a:prstGeom>
          <a:noFill/>
        </p:spPr>
        <p:txBody>
          <a:bodyPr wrap="square" anchor="t" lIns="0" rIns="0" tIns="0" bIns="0">
            <a:spAutoFit/>
          </a:bodyPr>
          <a:lstStyle/>
          <a:p>
            <a:pPr algn="l">
              <a:lnSpc>
                <a:spcPct val="130000"/>
              </a:lnSpc>
            </a:pPr>
            <a:r>
              <a:rPr sz="1300" b="0">
                <a:solidFill>
                  <a:srgbClr val="64748B"/>
                </a:solidFill>
                <a:latin typeface="Calibri"/>
              </a:rPr>
              <a:t>Ingestion and parsing, all three retrieval pipelines, adversarial dataset generation, and the judge with its metrics.</a:t>
            </a:r>
          </a:p>
        </p:txBody>
      </p:sp>
      <p:sp>
        <p:nvSpPr>
          <p:cNvPr id="24" name="TextBox 23"/>
          <p:cNvSpPr txBox="1"/>
          <p:nvPr/>
        </p:nvSpPr>
        <p:spPr>
          <a:xfrm>
            <a:off x="6327648" y="3611880"/>
            <a:ext cx="5120640" cy="32004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Blocking the benchmark</a:t>
            </a:r>
          </a:p>
        </p:txBody>
      </p:sp>
      <p:sp>
        <p:nvSpPr>
          <p:cNvPr id="25" name="TextBox 24"/>
          <p:cNvSpPr txBox="1"/>
          <p:nvPr/>
        </p:nvSpPr>
        <p:spPr>
          <a:xfrm>
            <a:off x="6327648" y="3995928"/>
            <a:ext cx="4937760" cy="1645920"/>
          </a:xfrm>
          <a:prstGeom prst="rect">
            <a:avLst/>
          </a:prstGeom>
          <a:noFill/>
        </p:spPr>
        <p:txBody>
          <a:bodyPr wrap="square" anchor="t" lIns="0" rIns="0" tIns="0" bIns="0">
            <a:spAutoFit/>
          </a:bodyPr>
          <a:lstStyle/>
          <a:p>
            <a:pPr algn="l">
              <a:lnSpc>
                <a:spcPct val="130000"/>
              </a:lnSpc>
            </a:pPr>
            <a:r>
              <a:rPr sz="1300" b="0">
                <a:solidFill>
                  <a:srgbClr val="64748B"/>
                </a:solidFill>
                <a:latin typeface="Calibri"/>
              </a:rPr>
              <a:t>Twenty golden questions still need hand-labelling, and the judge still needs to clear human scoring, before the 900-run benchmark can start.</a:t>
            </a:r>
          </a:p>
        </p:txBody>
      </p:sp>
      <p:sp>
        <p:nvSpPr>
          <p:cNvPr id="26" name="Rectangle 25"/>
          <p:cNvSpPr/>
          <p:nvPr/>
        </p:nvSpPr>
        <p:spPr>
          <a:xfrm>
            <a:off x="566928" y="5532120"/>
            <a:ext cx="11057839" cy="3810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5733288"/>
            <a:ext cx="10881360" cy="365760"/>
          </a:xfrm>
          <a:prstGeom prst="rect">
            <a:avLst/>
          </a:prstGeom>
          <a:noFill/>
        </p:spPr>
        <p:txBody>
          <a:bodyPr wrap="square" anchor="t" lIns="0" rIns="0" tIns="0" bIns="0">
            <a:spAutoFit/>
          </a:bodyPr>
          <a:lstStyle/>
          <a:p>
            <a:pPr algn="l">
              <a:lnSpc>
                <a:spcPct val="115000"/>
              </a:lnSpc>
            </a:pPr>
            <a:r>
              <a:rPr sz="1400" b="1">
                <a:solidFill>
                  <a:srgbClr val="0F172A"/>
                </a:solidFill>
                <a:latin typeface="Calibri"/>
              </a:rPr>
              <a:t>The results table holds zero rows because the executor has never run. Every other number here comes from the live database.</a:t>
            </a:r>
          </a:p>
        </p:txBody>
      </p:sp>
      <p:sp>
        <p:nvSpPr>
          <p:cNvPr id="28" name="TextBox 27"/>
          <p:cNvSpPr txBox="1"/>
          <p:nvPr/>
        </p:nvSpPr>
        <p:spPr>
          <a:xfrm>
            <a:off x="10527487" y="6382512"/>
            <a:ext cx="1097280" cy="274320"/>
          </a:xfrm>
          <a:prstGeom prst="rect">
            <a:avLst/>
          </a:prstGeom>
          <a:noFill/>
        </p:spPr>
        <p:txBody>
          <a:bodyPr wrap="square" anchor="t" lIns="0" rIns="0" tIns="0" bIns="0">
            <a:spAutoFit/>
          </a:bodyPr>
          <a:lstStyle/>
          <a:p>
            <a:pPr algn="r">
              <a:lnSpc>
                <a:spcPct val="115000"/>
              </a:lnSpc>
            </a:pPr>
            <a:r>
              <a:rPr sz="1000" b="0">
                <a:solidFill>
                  <a:srgbClr val="64748B"/>
                </a:solidFill>
                <a:latin typeface="Consola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03120"/>
            <a:ext cx="1371600" cy="635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423160"/>
            <a:ext cx="10424160" cy="822960"/>
          </a:xfrm>
          <a:prstGeom prst="rect">
            <a:avLst/>
          </a:prstGeom>
          <a:noFill/>
        </p:spPr>
        <p:txBody>
          <a:bodyPr wrap="square" anchor="t" lIns="0" rIns="0" tIns="0" bIns="0">
            <a:spAutoFit/>
          </a:bodyPr>
          <a:lstStyle/>
          <a:p>
            <a:pPr algn="l">
              <a:lnSpc>
                <a:spcPct val="115000"/>
              </a:lnSpc>
            </a:pPr>
            <a:r>
              <a:rPr sz="4000" b="1">
                <a:solidFill>
                  <a:srgbClr val="0F172A"/>
                </a:solidFill>
                <a:latin typeface="Calibri"/>
              </a:rPr>
              <a:t>Now, the software in use</a:t>
            </a:r>
          </a:p>
        </p:txBody>
      </p:sp>
      <p:sp>
        <p:nvSpPr>
          <p:cNvPr id="5" name="TextBox 4"/>
          <p:cNvSpPr txBox="1"/>
          <p:nvPr/>
        </p:nvSpPr>
        <p:spPr>
          <a:xfrm>
            <a:off x="566928" y="3611880"/>
            <a:ext cx="2377440" cy="320040"/>
          </a:xfrm>
          <a:prstGeom prst="rect">
            <a:avLst/>
          </a:prstGeom>
          <a:noFill/>
        </p:spPr>
        <p:txBody>
          <a:bodyPr wrap="square" anchor="t" lIns="0" rIns="0" tIns="0" bIns="0">
            <a:spAutoFit/>
          </a:bodyPr>
          <a:lstStyle/>
          <a:p>
            <a:pPr algn="l">
              <a:lnSpc>
                <a:spcPct val="115000"/>
              </a:lnSpc>
            </a:pPr>
            <a:r>
              <a:rPr sz="1500" b="1">
                <a:solidFill>
                  <a:srgbClr val="0F172A"/>
                </a:solidFill>
                <a:latin typeface="Calibri"/>
              </a:rPr>
              <a:t>Source code</a:t>
            </a:r>
          </a:p>
        </p:txBody>
      </p:sp>
      <p:sp>
        <p:nvSpPr>
          <p:cNvPr id="6" name="TextBox 5"/>
          <p:cNvSpPr txBox="1"/>
          <p:nvPr/>
        </p:nvSpPr>
        <p:spPr>
          <a:xfrm>
            <a:off x="3127248" y="3611880"/>
            <a:ext cx="7863840" cy="320040"/>
          </a:xfrm>
          <a:prstGeom prst="rect">
            <a:avLst/>
          </a:prstGeom>
          <a:noFill/>
        </p:spPr>
        <p:txBody>
          <a:bodyPr wrap="square" anchor="t" lIns="0" rIns="0" tIns="0" bIns="0">
            <a:spAutoFit/>
          </a:bodyPr>
          <a:lstStyle/>
          <a:p>
            <a:pPr algn="l">
              <a:lnSpc>
                <a:spcPct val="115000"/>
              </a:lnSpc>
            </a:pPr>
            <a:r>
              <a:rPr sz="1400" b="0">
                <a:solidFill>
                  <a:srgbClr val="64748B"/>
                </a:solidFill>
                <a:latin typeface="Calibri"/>
              </a:rPr>
              <a:t>the BM25 tokeniser, the structural retriever, the answerer</a:t>
            </a:r>
          </a:p>
        </p:txBody>
      </p:sp>
      <p:sp>
        <p:nvSpPr>
          <p:cNvPr id="7" name="TextBox 6"/>
          <p:cNvSpPr txBox="1"/>
          <p:nvPr/>
        </p:nvSpPr>
        <p:spPr>
          <a:xfrm>
            <a:off x="566928" y="4087368"/>
            <a:ext cx="2377440" cy="320040"/>
          </a:xfrm>
          <a:prstGeom prst="rect">
            <a:avLst/>
          </a:prstGeom>
          <a:noFill/>
        </p:spPr>
        <p:txBody>
          <a:bodyPr wrap="square" anchor="t" lIns="0" rIns="0" tIns="0" bIns="0">
            <a:spAutoFit/>
          </a:bodyPr>
          <a:lstStyle/>
          <a:p>
            <a:pPr algn="l">
              <a:lnSpc>
                <a:spcPct val="115000"/>
              </a:lnSpc>
            </a:pPr>
            <a:r>
              <a:rPr sz="1500" b="1">
                <a:solidFill>
                  <a:srgbClr val="0F172A"/>
                </a:solidFill>
                <a:latin typeface="Calibri"/>
              </a:rPr>
              <a:t>A live comparison</a:t>
            </a:r>
          </a:p>
        </p:txBody>
      </p:sp>
      <p:sp>
        <p:nvSpPr>
          <p:cNvPr id="8" name="TextBox 7"/>
          <p:cNvSpPr txBox="1"/>
          <p:nvPr/>
        </p:nvSpPr>
        <p:spPr>
          <a:xfrm>
            <a:off x="3127248" y="4087368"/>
            <a:ext cx="7863840" cy="320040"/>
          </a:xfrm>
          <a:prstGeom prst="rect">
            <a:avLst/>
          </a:prstGeom>
          <a:noFill/>
        </p:spPr>
        <p:txBody>
          <a:bodyPr wrap="square" anchor="t" lIns="0" rIns="0" tIns="0" bIns="0">
            <a:spAutoFit/>
          </a:bodyPr>
          <a:lstStyle/>
          <a:p>
            <a:pPr algn="l">
              <a:lnSpc>
                <a:spcPct val="115000"/>
              </a:lnSpc>
            </a:pPr>
            <a:r>
              <a:rPr sz="1400" b="0">
                <a:solidFill>
                  <a:srgbClr val="64748B"/>
                </a:solidFill>
                <a:latin typeface="Calibri"/>
              </a:rPr>
              <a:t>one question through all three pipelines at K = 3</a:t>
            </a:r>
          </a:p>
        </p:txBody>
      </p:sp>
      <p:sp>
        <p:nvSpPr>
          <p:cNvPr id="9" name="TextBox 8"/>
          <p:cNvSpPr txBox="1"/>
          <p:nvPr/>
        </p:nvSpPr>
        <p:spPr>
          <a:xfrm>
            <a:off x="566928" y="4562856"/>
            <a:ext cx="2377440" cy="320040"/>
          </a:xfrm>
          <a:prstGeom prst="rect">
            <a:avLst/>
          </a:prstGeom>
          <a:noFill/>
        </p:spPr>
        <p:txBody>
          <a:bodyPr wrap="square" anchor="t" lIns="0" rIns="0" tIns="0" bIns="0">
            <a:spAutoFit/>
          </a:bodyPr>
          <a:lstStyle/>
          <a:p>
            <a:pPr algn="l">
              <a:lnSpc>
                <a:spcPct val="115000"/>
              </a:lnSpc>
            </a:pPr>
            <a:r>
              <a:rPr sz="1500" b="1">
                <a:solidFill>
                  <a:srgbClr val="0F172A"/>
                </a:solidFill>
                <a:latin typeface="Calibri"/>
              </a:rPr>
              <a:t>The database</a:t>
            </a:r>
          </a:p>
        </p:txBody>
      </p:sp>
      <p:sp>
        <p:nvSpPr>
          <p:cNvPr id="10" name="TextBox 9"/>
          <p:cNvSpPr txBox="1"/>
          <p:nvPr/>
        </p:nvSpPr>
        <p:spPr>
          <a:xfrm>
            <a:off x="3127248" y="4562856"/>
            <a:ext cx="7863840" cy="320040"/>
          </a:xfrm>
          <a:prstGeom prst="rect">
            <a:avLst/>
          </a:prstGeom>
          <a:noFill/>
        </p:spPr>
        <p:txBody>
          <a:bodyPr wrap="square" anchor="t" lIns="0" rIns="0" tIns="0" bIns="0">
            <a:spAutoFit/>
          </a:bodyPr>
          <a:lstStyle/>
          <a:p>
            <a:pPr algn="l">
              <a:lnSpc>
                <a:spcPct val="115000"/>
              </a:lnSpc>
            </a:pPr>
            <a:r>
              <a:rPr sz="1400" b="0">
                <a:solidFill>
                  <a:srgbClr val="64748B"/>
                </a:solidFill>
                <a:latin typeface="Calibri"/>
              </a:rPr>
              <a:t>live row counts behind every number in this deck</a:t>
            </a:r>
          </a:p>
        </p:txBody>
      </p:sp>
      <p:sp>
        <p:nvSpPr>
          <p:cNvPr id="11" name="TextBox 10"/>
          <p:cNvSpPr txBox="1"/>
          <p:nvPr/>
        </p:nvSpPr>
        <p:spPr>
          <a:xfrm>
            <a:off x="566928" y="5038344"/>
            <a:ext cx="2377440" cy="320040"/>
          </a:xfrm>
          <a:prstGeom prst="rect">
            <a:avLst/>
          </a:prstGeom>
          <a:noFill/>
        </p:spPr>
        <p:txBody>
          <a:bodyPr wrap="square" anchor="t" lIns="0" rIns="0" tIns="0" bIns="0">
            <a:spAutoFit/>
          </a:bodyPr>
          <a:lstStyle/>
          <a:p>
            <a:pPr algn="l">
              <a:lnSpc>
                <a:spcPct val="115000"/>
              </a:lnSpc>
            </a:pPr>
            <a:r>
              <a:rPr sz="1500" b="1">
                <a:solidFill>
                  <a:srgbClr val="0F172A"/>
                </a:solidFill>
                <a:latin typeface="Calibri"/>
              </a:rPr>
              <a:t>The test suite</a:t>
            </a:r>
          </a:p>
        </p:txBody>
      </p:sp>
      <p:sp>
        <p:nvSpPr>
          <p:cNvPr id="12" name="TextBox 11"/>
          <p:cNvSpPr txBox="1"/>
          <p:nvPr/>
        </p:nvSpPr>
        <p:spPr>
          <a:xfrm>
            <a:off x="3127248" y="5038344"/>
            <a:ext cx="7863840" cy="320040"/>
          </a:xfrm>
          <a:prstGeom prst="rect">
            <a:avLst/>
          </a:prstGeom>
          <a:noFill/>
        </p:spPr>
        <p:txBody>
          <a:bodyPr wrap="square" anchor="t" lIns="0" rIns="0" tIns="0" bIns="0">
            <a:spAutoFit/>
          </a:bodyPr>
          <a:lstStyle/>
          <a:p>
            <a:pPr algn="l">
              <a:lnSpc>
                <a:spcPct val="115000"/>
              </a:lnSpc>
            </a:pPr>
            <a:r>
              <a:rPr sz="1400" b="0">
                <a:solidFill>
                  <a:srgbClr val="64748B"/>
                </a:solidFill>
                <a:latin typeface="Calibri"/>
              </a:rPr>
              <a:t>339 tests</a:t>
            </a:r>
          </a:p>
        </p:txBody>
      </p:sp>
      <p:sp>
        <p:nvSpPr>
          <p:cNvPr id="13" name="TextBox 12"/>
          <p:cNvSpPr txBox="1"/>
          <p:nvPr/>
        </p:nvSpPr>
        <p:spPr>
          <a:xfrm>
            <a:off x="10527487" y="6382512"/>
            <a:ext cx="1097280" cy="274320"/>
          </a:xfrm>
          <a:prstGeom prst="rect">
            <a:avLst/>
          </a:prstGeom>
          <a:noFill/>
        </p:spPr>
        <p:txBody>
          <a:bodyPr wrap="square" anchor="t" lIns="0" rIns="0" tIns="0" bIns="0">
            <a:spAutoFit/>
          </a:bodyPr>
          <a:lstStyle/>
          <a:p>
            <a:pPr algn="r">
              <a:lnSpc>
                <a:spcPct val="115000"/>
              </a:lnSpc>
            </a:pPr>
            <a:r>
              <a:rPr sz="1000" b="0">
                <a:solidFill>
                  <a:srgbClr val="64748B"/>
                </a:solidFill>
                <a:latin typeface="Consola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48640"/>
            <a:ext cx="274320" cy="4445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9264" y="457200"/>
            <a:ext cx="7315200" cy="228600"/>
          </a:xfrm>
          <a:prstGeom prst="rect">
            <a:avLst/>
          </a:prstGeom>
          <a:noFill/>
        </p:spPr>
        <p:txBody>
          <a:bodyPr wrap="square" anchor="t" lIns="0" rIns="0" tIns="0" bIns="0">
            <a:spAutoFit/>
          </a:bodyPr>
          <a:lstStyle/>
          <a:p>
            <a:pPr algn="l">
              <a:lnSpc>
                <a:spcPct val="115000"/>
              </a:lnSpc>
            </a:pPr>
            <a:r>
              <a:rPr sz="1100" b="1">
                <a:solidFill>
                  <a:srgbClr val="64748B"/>
                </a:solidFill>
                <a:latin typeface="Calibri"/>
              </a:rPr>
              <a:t>CONCLUSIONS</a:t>
            </a:r>
          </a:p>
        </p:txBody>
      </p:sp>
      <p:sp>
        <p:nvSpPr>
          <p:cNvPr id="5" name="TextBox 4"/>
          <p:cNvSpPr txBox="1"/>
          <p:nvPr/>
        </p:nvSpPr>
        <p:spPr>
          <a:xfrm>
            <a:off x="566928" y="786384"/>
            <a:ext cx="11057839" cy="822960"/>
          </a:xfrm>
          <a:prstGeom prst="rect">
            <a:avLst/>
          </a:prstGeom>
          <a:noFill/>
        </p:spPr>
        <p:txBody>
          <a:bodyPr wrap="square" anchor="t" lIns="0" rIns="0" tIns="0" bIns="0">
            <a:spAutoFit/>
          </a:bodyPr>
          <a:lstStyle/>
          <a:p>
            <a:pPr algn="l">
              <a:lnSpc>
                <a:spcPct val="102000"/>
              </a:lnSpc>
            </a:pPr>
            <a:r>
              <a:rPr sz="3200" b="1">
                <a:solidFill>
                  <a:srgbClr val="0F172A"/>
                </a:solidFill>
                <a:latin typeface="Calibri"/>
              </a:rPr>
              <a:t>What the work supports so far</a:t>
            </a:r>
          </a:p>
        </p:txBody>
      </p:sp>
      <p:sp>
        <p:nvSpPr>
          <p:cNvPr id="6" name="TextBox 5"/>
          <p:cNvSpPr txBox="1"/>
          <p:nvPr/>
        </p:nvSpPr>
        <p:spPr>
          <a:xfrm>
            <a:off x="566928" y="1572768"/>
            <a:ext cx="9509760" cy="548640"/>
          </a:xfrm>
          <a:prstGeom prst="rect">
            <a:avLst/>
          </a:prstGeom>
          <a:noFill/>
        </p:spPr>
        <p:txBody>
          <a:bodyPr wrap="square" anchor="t" lIns="0" rIns="0" tIns="0" bIns="0">
            <a:spAutoFit/>
          </a:bodyPr>
          <a:lstStyle/>
          <a:p>
            <a:pPr algn="l">
              <a:lnSpc>
                <a:spcPct val="115000"/>
              </a:lnSpc>
            </a:pPr>
            <a:r>
              <a:rPr sz="1500" b="0">
                <a:solidFill>
                  <a:srgbClr val="64748B"/>
                </a:solidFill>
                <a:latin typeface="Calibri"/>
              </a:rPr>
              <a:t>None of these come from the benchmark. They come from building the system.</a:t>
            </a:r>
          </a:p>
        </p:txBody>
      </p:sp>
      <p:sp>
        <p:nvSpPr>
          <p:cNvPr id="7" name="Rectangle 6"/>
          <p:cNvSpPr/>
          <p:nvPr/>
        </p:nvSpPr>
        <p:spPr>
          <a:xfrm>
            <a:off x="566928" y="2029968"/>
            <a:ext cx="50800" cy="804672"/>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2029968"/>
            <a:ext cx="10424160" cy="32004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The three paradigms disagree about the evidence</a:t>
            </a:r>
          </a:p>
        </p:txBody>
      </p:sp>
      <p:sp>
        <p:nvSpPr>
          <p:cNvPr id="9" name="TextBox 8"/>
          <p:cNvSpPr txBox="1"/>
          <p:nvPr/>
        </p:nvSpPr>
        <p:spPr>
          <a:xfrm>
            <a:off x="768096" y="2395728"/>
            <a:ext cx="10241280" cy="457200"/>
          </a:xfrm>
          <a:prstGeom prst="rect">
            <a:avLst/>
          </a:prstGeom>
          <a:noFill/>
        </p:spPr>
        <p:txBody>
          <a:bodyPr wrap="square" anchor="t" lIns="0" rIns="0" tIns="0" bIns="0">
            <a:spAutoFit/>
          </a:bodyPr>
          <a:lstStyle/>
          <a:p>
            <a:pPr algn="l">
              <a:lnSpc>
                <a:spcPct val="130000"/>
              </a:lnSpc>
            </a:pPr>
            <a:r>
              <a:rPr sz="1300" b="0">
                <a:solidFill>
                  <a:srgbClr val="64748B"/>
                </a:solidFill>
                <a:latin typeface="Calibri"/>
              </a:rPr>
              <a:t>On the same question they return different nodes, which is the effect the benchmark measures.</a:t>
            </a:r>
          </a:p>
        </p:txBody>
      </p:sp>
      <p:sp>
        <p:nvSpPr>
          <p:cNvPr id="10" name="Rectangle 9"/>
          <p:cNvSpPr/>
          <p:nvPr/>
        </p:nvSpPr>
        <p:spPr>
          <a:xfrm>
            <a:off x="566928" y="3081528"/>
            <a:ext cx="50800" cy="8046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3081528"/>
            <a:ext cx="10424160" cy="32004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Cost separates them as sharply as accuracy might</a:t>
            </a:r>
          </a:p>
        </p:txBody>
      </p:sp>
      <p:sp>
        <p:nvSpPr>
          <p:cNvPr id="12" name="TextBox 11"/>
          <p:cNvSpPr txBox="1"/>
          <p:nvPr/>
        </p:nvSpPr>
        <p:spPr>
          <a:xfrm>
            <a:off x="768096" y="3447288"/>
            <a:ext cx="10241280" cy="457200"/>
          </a:xfrm>
          <a:prstGeom prst="rect">
            <a:avLst/>
          </a:prstGeom>
          <a:noFill/>
        </p:spPr>
        <p:txBody>
          <a:bodyPr wrap="square" anchor="t" lIns="0" rIns="0" tIns="0" bIns="0">
            <a:spAutoFit/>
          </a:bodyPr>
          <a:lstStyle/>
          <a:p>
            <a:pPr algn="l">
              <a:lnSpc>
                <a:spcPct val="130000"/>
              </a:lnSpc>
            </a:pPr>
            <a:r>
              <a:rPr sz="1300" b="0">
                <a:solidFill>
                  <a:srgbClr val="64748B"/>
                </a:solidFill>
                <a:latin typeface="Calibri"/>
              </a:rPr>
              <a:t>BM25 retrieves with no model at all, while the vector arm pays for a cross-encoder on every query.</a:t>
            </a:r>
          </a:p>
        </p:txBody>
      </p:sp>
      <p:sp>
        <p:nvSpPr>
          <p:cNvPr id="13" name="Rectangle 12"/>
          <p:cNvSpPr/>
          <p:nvPr/>
        </p:nvSpPr>
        <p:spPr>
          <a:xfrm>
            <a:off x="566928" y="4133088"/>
            <a:ext cx="50800" cy="8046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4133088"/>
            <a:ext cx="10424160" cy="32004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Free-tier limits shaped the architecture</a:t>
            </a:r>
          </a:p>
        </p:txBody>
      </p:sp>
      <p:sp>
        <p:nvSpPr>
          <p:cNvPr id="15" name="TextBox 14"/>
          <p:cNvSpPr txBox="1"/>
          <p:nvPr/>
        </p:nvSpPr>
        <p:spPr>
          <a:xfrm>
            <a:off x="768096" y="4498848"/>
            <a:ext cx="10241280" cy="457200"/>
          </a:xfrm>
          <a:prstGeom prst="rect">
            <a:avLst/>
          </a:prstGeom>
          <a:noFill/>
        </p:spPr>
        <p:txBody>
          <a:bodyPr wrap="square" anchor="t" lIns="0" rIns="0" tIns="0" bIns="0">
            <a:spAutoFit/>
          </a:bodyPr>
          <a:lstStyle/>
          <a:p>
            <a:pPr algn="l">
              <a:lnSpc>
                <a:spcPct val="130000"/>
              </a:lnSpc>
            </a:pPr>
            <a:r>
              <a:rPr sz="1300" b="0">
                <a:solidFill>
                  <a:srgbClr val="64748B"/>
                </a:solidFill>
                <a:latin typeface="Calibri"/>
              </a:rPr>
              <a:t>The free quota runs out part-way through a run, which forced three providers and a resumable key.</a:t>
            </a:r>
          </a:p>
        </p:txBody>
      </p:sp>
      <p:sp>
        <p:nvSpPr>
          <p:cNvPr id="16" name="TextBox 15"/>
          <p:cNvSpPr txBox="1"/>
          <p:nvPr/>
        </p:nvSpPr>
        <p:spPr>
          <a:xfrm>
            <a:off x="10527487" y="6382512"/>
            <a:ext cx="1097280" cy="274320"/>
          </a:xfrm>
          <a:prstGeom prst="rect">
            <a:avLst/>
          </a:prstGeom>
          <a:noFill/>
        </p:spPr>
        <p:txBody>
          <a:bodyPr wrap="square" anchor="t" lIns="0" rIns="0" tIns="0" bIns="0">
            <a:spAutoFit/>
          </a:bodyPr>
          <a:lstStyle/>
          <a:p>
            <a:pPr algn="r">
              <a:lnSpc>
                <a:spcPct val="115000"/>
              </a:lnSpc>
            </a:pPr>
            <a:r>
              <a:rPr sz="1000" b="0">
                <a:solidFill>
                  <a:srgbClr val="64748B"/>
                </a:solidFill>
                <a:latin typeface="Consola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48640"/>
            <a:ext cx="274320" cy="4445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9264" y="457200"/>
            <a:ext cx="7315200" cy="228600"/>
          </a:xfrm>
          <a:prstGeom prst="rect">
            <a:avLst/>
          </a:prstGeom>
          <a:noFill/>
        </p:spPr>
        <p:txBody>
          <a:bodyPr wrap="square" anchor="t" lIns="0" rIns="0" tIns="0" bIns="0">
            <a:spAutoFit/>
          </a:bodyPr>
          <a:lstStyle/>
          <a:p>
            <a:pPr algn="l">
              <a:lnSpc>
                <a:spcPct val="115000"/>
              </a:lnSpc>
            </a:pPr>
            <a:r>
              <a:rPr sz="1100" b="1">
                <a:solidFill>
                  <a:srgbClr val="64748B"/>
                </a:solidFill>
                <a:latin typeface="Calibri"/>
              </a:rPr>
              <a:t>NEXT</a:t>
            </a:r>
          </a:p>
        </p:txBody>
      </p:sp>
      <p:sp>
        <p:nvSpPr>
          <p:cNvPr id="5" name="TextBox 4"/>
          <p:cNvSpPr txBox="1"/>
          <p:nvPr/>
        </p:nvSpPr>
        <p:spPr>
          <a:xfrm>
            <a:off x="566928" y="786384"/>
            <a:ext cx="11057839" cy="822960"/>
          </a:xfrm>
          <a:prstGeom prst="rect">
            <a:avLst/>
          </a:prstGeom>
          <a:noFill/>
        </p:spPr>
        <p:txBody>
          <a:bodyPr wrap="square" anchor="t" lIns="0" rIns="0" tIns="0" bIns="0">
            <a:spAutoFit/>
          </a:bodyPr>
          <a:lstStyle/>
          <a:p>
            <a:pPr algn="l">
              <a:lnSpc>
                <a:spcPct val="102000"/>
              </a:lnSpc>
            </a:pPr>
            <a:r>
              <a:rPr sz="3200" b="1">
                <a:solidFill>
                  <a:srgbClr val="0F172A"/>
                </a:solidFill>
                <a:latin typeface="Calibri"/>
              </a:rPr>
              <a:t>What happens next</a:t>
            </a:r>
          </a:p>
        </p:txBody>
      </p:sp>
      <p:sp>
        <p:nvSpPr>
          <p:cNvPr id="6" name="TextBox 5"/>
          <p:cNvSpPr txBox="1"/>
          <p:nvPr/>
        </p:nvSpPr>
        <p:spPr>
          <a:xfrm>
            <a:off x="566928" y="1572768"/>
            <a:ext cx="457200" cy="320040"/>
          </a:xfrm>
          <a:prstGeom prst="rect">
            <a:avLst/>
          </a:prstGeom>
          <a:noFill/>
        </p:spPr>
        <p:txBody>
          <a:bodyPr wrap="square" anchor="t" lIns="0" rIns="0" tIns="0" bIns="0">
            <a:spAutoFit/>
          </a:bodyPr>
          <a:lstStyle/>
          <a:p>
            <a:pPr algn="l">
              <a:lnSpc>
                <a:spcPct val="115000"/>
              </a:lnSpc>
            </a:pPr>
            <a:r>
              <a:rPr sz="1700" b="1">
                <a:solidFill>
                  <a:srgbClr val="E2E8F0"/>
                </a:solidFill>
                <a:latin typeface="Consolas"/>
              </a:rPr>
              <a:t>1</a:t>
            </a:r>
          </a:p>
        </p:txBody>
      </p:sp>
      <p:sp>
        <p:nvSpPr>
          <p:cNvPr id="7" name="TextBox 6"/>
          <p:cNvSpPr txBox="1"/>
          <p:nvPr/>
        </p:nvSpPr>
        <p:spPr>
          <a:xfrm>
            <a:off x="1133856" y="1572768"/>
            <a:ext cx="6583680" cy="32004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Label the 20 golden questions</a:t>
            </a:r>
          </a:p>
        </p:txBody>
      </p:sp>
      <p:sp>
        <p:nvSpPr>
          <p:cNvPr id="8" name="TextBox 7"/>
          <p:cNvSpPr txBox="1"/>
          <p:nvPr/>
        </p:nvSpPr>
        <p:spPr>
          <a:xfrm>
            <a:off x="8065007" y="1600200"/>
            <a:ext cx="3931920" cy="320040"/>
          </a:xfrm>
          <a:prstGeom prst="rect">
            <a:avLst/>
          </a:prstGeom>
          <a:noFill/>
        </p:spPr>
        <p:txBody>
          <a:bodyPr wrap="square" anchor="t" lIns="0" rIns="0" tIns="0" bIns="0">
            <a:spAutoFit/>
          </a:bodyPr>
          <a:lstStyle/>
          <a:p>
            <a:pPr algn="l">
              <a:lnSpc>
                <a:spcPct val="115000"/>
              </a:lnSpc>
            </a:pPr>
            <a:r>
              <a:rPr sz="1300" b="0">
                <a:solidFill>
                  <a:srgbClr val="64748B"/>
                </a:solidFill>
                <a:latin typeface="Calibri"/>
              </a:rPr>
              <a:t>manual, nothing blocks it</a:t>
            </a:r>
          </a:p>
        </p:txBody>
      </p:sp>
      <p:sp>
        <p:nvSpPr>
          <p:cNvPr id="9" name="TextBox 8"/>
          <p:cNvSpPr txBox="1"/>
          <p:nvPr/>
        </p:nvSpPr>
        <p:spPr>
          <a:xfrm>
            <a:off x="566928" y="2231136"/>
            <a:ext cx="457200" cy="320040"/>
          </a:xfrm>
          <a:prstGeom prst="rect">
            <a:avLst/>
          </a:prstGeom>
          <a:noFill/>
        </p:spPr>
        <p:txBody>
          <a:bodyPr wrap="square" anchor="t" lIns="0" rIns="0" tIns="0" bIns="0">
            <a:spAutoFit/>
          </a:bodyPr>
          <a:lstStyle/>
          <a:p>
            <a:pPr algn="l">
              <a:lnSpc>
                <a:spcPct val="115000"/>
              </a:lnSpc>
            </a:pPr>
            <a:r>
              <a:rPr sz="1700" b="1">
                <a:solidFill>
                  <a:srgbClr val="E2E8F0"/>
                </a:solidFill>
                <a:latin typeface="Consolas"/>
              </a:rPr>
              <a:t>2</a:t>
            </a:r>
          </a:p>
        </p:txBody>
      </p:sp>
      <p:sp>
        <p:nvSpPr>
          <p:cNvPr id="10" name="TextBox 9"/>
          <p:cNvSpPr txBox="1"/>
          <p:nvPr/>
        </p:nvSpPr>
        <p:spPr>
          <a:xfrm>
            <a:off x="1133856" y="2231136"/>
            <a:ext cx="6583680" cy="32004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Clear the judge against human scoring</a:t>
            </a:r>
          </a:p>
        </p:txBody>
      </p:sp>
      <p:sp>
        <p:nvSpPr>
          <p:cNvPr id="11" name="TextBox 10"/>
          <p:cNvSpPr txBox="1"/>
          <p:nvPr/>
        </p:nvSpPr>
        <p:spPr>
          <a:xfrm>
            <a:off x="8065007" y="2258568"/>
            <a:ext cx="3931920" cy="320040"/>
          </a:xfrm>
          <a:prstGeom prst="rect">
            <a:avLst/>
          </a:prstGeom>
          <a:noFill/>
        </p:spPr>
        <p:txBody>
          <a:bodyPr wrap="square" anchor="t" lIns="0" rIns="0" tIns="0" bIns="0">
            <a:spAutoFit/>
          </a:bodyPr>
          <a:lstStyle/>
          <a:p>
            <a:pPr algn="l">
              <a:lnSpc>
                <a:spcPct val="115000"/>
              </a:lnSpc>
            </a:pPr>
            <a:r>
              <a:rPr sz="1300" b="0">
                <a:solidFill>
                  <a:srgbClr val="64748B"/>
                </a:solidFill>
                <a:latin typeface="Calibri"/>
              </a:rPr>
              <a:t>60 outputs, held-out questions</a:t>
            </a:r>
          </a:p>
        </p:txBody>
      </p:sp>
      <p:sp>
        <p:nvSpPr>
          <p:cNvPr id="12" name="TextBox 11"/>
          <p:cNvSpPr txBox="1"/>
          <p:nvPr/>
        </p:nvSpPr>
        <p:spPr>
          <a:xfrm>
            <a:off x="566928" y="2889504"/>
            <a:ext cx="457200" cy="320040"/>
          </a:xfrm>
          <a:prstGeom prst="rect">
            <a:avLst/>
          </a:prstGeom>
          <a:noFill/>
        </p:spPr>
        <p:txBody>
          <a:bodyPr wrap="square" anchor="t" lIns="0" rIns="0" tIns="0" bIns="0">
            <a:spAutoFit/>
          </a:bodyPr>
          <a:lstStyle/>
          <a:p>
            <a:pPr algn="l">
              <a:lnSpc>
                <a:spcPct val="115000"/>
              </a:lnSpc>
            </a:pPr>
            <a:r>
              <a:rPr sz="1700" b="1">
                <a:solidFill>
                  <a:srgbClr val="E2E8F0"/>
                </a:solidFill>
                <a:latin typeface="Consolas"/>
              </a:rPr>
              <a:t>3</a:t>
            </a:r>
          </a:p>
        </p:txBody>
      </p:sp>
      <p:sp>
        <p:nvSpPr>
          <p:cNvPr id="13" name="TextBox 12"/>
          <p:cNvSpPr txBox="1"/>
          <p:nvPr/>
        </p:nvSpPr>
        <p:spPr>
          <a:xfrm>
            <a:off x="1133856" y="2889504"/>
            <a:ext cx="6583680" cy="32004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Build the remaining vector and BM25 indexes</a:t>
            </a:r>
          </a:p>
        </p:txBody>
      </p:sp>
      <p:sp>
        <p:nvSpPr>
          <p:cNvPr id="14" name="TextBox 13"/>
          <p:cNvSpPr txBox="1"/>
          <p:nvPr/>
        </p:nvSpPr>
        <p:spPr>
          <a:xfrm>
            <a:off x="8065007" y="2916936"/>
            <a:ext cx="3931920" cy="320040"/>
          </a:xfrm>
          <a:prstGeom prst="rect">
            <a:avLst/>
          </a:prstGeom>
          <a:noFill/>
        </p:spPr>
        <p:txBody>
          <a:bodyPr wrap="square" anchor="t" lIns="0" rIns="0" tIns="0" bIns="0">
            <a:spAutoFit/>
          </a:bodyPr>
          <a:lstStyle/>
          <a:p>
            <a:pPr algn="l">
              <a:lnSpc>
                <a:spcPct val="115000"/>
              </a:lnSpc>
            </a:pPr>
            <a:r>
              <a:rPr sz="1300" b="0">
                <a:solidFill>
                  <a:srgbClr val="64748B"/>
                </a:solidFill>
                <a:latin typeface="Calibri"/>
              </a:rPr>
              <a:t>local, no API cost</a:t>
            </a:r>
          </a:p>
        </p:txBody>
      </p:sp>
      <p:sp>
        <p:nvSpPr>
          <p:cNvPr id="15" name="TextBox 14"/>
          <p:cNvSpPr txBox="1"/>
          <p:nvPr/>
        </p:nvSpPr>
        <p:spPr>
          <a:xfrm>
            <a:off x="566928" y="3547872"/>
            <a:ext cx="457200" cy="320040"/>
          </a:xfrm>
          <a:prstGeom prst="rect">
            <a:avLst/>
          </a:prstGeom>
          <a:noFill/>
        </p:spPr>
        <p:txBody>
          <a:bodyPr wrap="square" anchor="t" lIns="0" rIns="0" tIns="0" bIns="0">
            <a:spAutoFit/>
          </a:bodyPr>
          <a:lstStyle/>
          <a:p>
            <a:pPr algn="l">
              <a:lnSpc>
                <a:spcPct val="115000"/>
              </a:lnSpc>
            </a:pPr>
            <a:r>
              <a:rPr sz="1700" b="1">
                <a:solidFill>
                  <a:srgbClr val="E2E8F0"/>
                </a:solidFill>
                <a:latin typeface="Consolas"/>
              </a:rPr>
              <a:t>4</a:t>
            </a:r>
          </a:p>
        </p:txBody>
      </p:sp>
      <p:sp>
        <p:nvSpPr>
          <p:cNvPr id="16" name="TextBox 15"/>
          <p:cNvSpPr txBox="1"/>
          <p:nvPr/>
        </p:nvSpPr>
        <p:spPr>
          <a:xfrm>
            <a:off x="1133856" y="3547872"/>
            <a:ext cx="6583680" cy="32004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Run the 900-cell benchmark</a:t>
            </a:r>
          </a:p>
        </p:txBody>
      </p:sp>
      <p:sp>
        <p:nvSpPr>
          <p:cNvPr id="17" name="TextBox 16"/>
          <p:cNvSpPr txBox="1"/>
          <p:nvPr/>
        </p:nvSpPr>
        <p:spPr>
          <a:xfrm>
            <a:off x="8065007" y="3575304"/>
            <a:ext cx="3931920" cy="320040"/>
          </a:xfrm>
          <a:prstGeom prst="rect">
            <a:avLst/>
          </a:prstGeom>
          <a:noFill/>
        </p:spPr>
        <p:txBody>
          <a:bodyPr wrap="square" anchor="t" lIns="0" rIns="0" tIns="0" bIns="0">
            <a:spAutoFit/>
          </a:bodyPr>
          <a:lstStyle/>
          <a:p>
            <a:pPr algn="l">
              <a:lnSpc>
                <a:spcPct val="115000"/>
              </a:lnSpc>
            </a:pPr>
            <a:r>
              <a:rPr sz="1300" b="0">
                <a:solidFill>
                  <a:srgbClr val="64748B"/>
                </a:solidFill>
                <a:latin typeface="Calibri"/>
              </a:rPr>
              <a:t>free tier, resumable after any crash</a:t>
            </a:r>
          </a:p>
        </p:txBody>
      </p:sp>
      <p:sp>
        <p:nvSpPr>
          <p:cNvPr id="18" name="TextBox 17"/>
          <p:cNvSpPr txBox="1"/>
          <p:nvPr/>
        </p:nvSpPr>
        <p:spPr>
          <a:xfrm>
            <a:off x="566928" y="4206240"/>
            <a:ext cx="457200" cy="320040"/>
          </a:xfrm>
          <a:prstGeom prst="rect">
            <a:avLst/>
          </a:prstGeom>
          <a:noFill/>
        </p:spPr>
        <p:txBody>
          <a:bodyPr wrap="square" anchor="t" lIns="0" rIns="0" tIns="0" bIns="0">
            <a:spAutoFit/>
          </a:bodyPr>
          <a:lstStyle/>
          <a:p>
            <a:pPr algn="l">
              <a:lnSpc>
                <a:spcPct val="115000"/>
              </a:lnSpc>
            </a:pPr>
            <a:r>
              <a:rPr sz="1700" b="1">
                <a:solidFill>
                  <a:srgbClr val="E2E8F0"/>
                </a:solidFill>
                <a:latin typeface="Consolas"/>
              </a:rPr>
              <a:t>5</a:t>
            </a:r>
          </a:p>
        </p:txBody>
      </p:sp>
      <p:sp>
        <p:nvSpPr>
          <p:cNvPr id="19" name="TextBox 18"/>
          <p:cNvSpPr txBox="1"/>
          <p:nvPr/>
        </p:nvSpPr>
        <p:spPr>
          <a:xfrm>
            <a:off x="1133856" y="4206240"/>
            <a:ext cx="6583680" cy="320040"/>
          </a:xfrm>
          <a:prstGeom prst="rect">
            <a:avLst/>
          </a:prstGeom>
          <a:noFill/>
        </p:spPr>
        <p:txBody>
          <a:bodyPr wrap="square" anchor="t" lIns="0" rIns="0" tIns="0" bIns="0">
            <a:spAutoFit/>
          </a:bodyPr>
          <a:lstStyle/>
          <a:p>
            <a:pPr algn="l">
              <a:lnSpc>
                <a:spcPct val="115000"/>
              </a:lnSpc>
            </a:pPr>
            <a:r>
              <a:rPr sz="1700" b="1">
                <a:solidFill>
                  <a:srgbClr val="0F172A"/>
                </a:solidFill>
                <a:latin typeface="Calibri"/>
              </a:rPr>
              <a:t>Report per quadrant</a:t>
            </a:r>
          </a:p>
        </p:txBody>
      </p:sp>
      <p:sp>
        <p:nvSpPr>
          <p:cNvPr id="20" name="TextBox 19"/>
          <p:cNvSpPr txBox="1"/>
          <p:nvPr/>
        </p:nvSpPr>
        <p:spPr>
          <a:xfrm>
            <a:off x="8065007" y="4233672"/>
            <a:ext cx="3931920" cy="320040"/>
          </a:xfrm>
          <a:prstGeom prst="rect">
            <a:avLst/>
          </a:prstGeom>
          <a:noFill/>
        </p:spPr>
        <p:txBody>
          <a:bodyPr wrap="square" anchor="t" lIns="0" rIns="0" tIns="0" bIns="0">
            <a:spAutoFit/>
          </a:bodyPr>
          <a:lstStyle/>
          <a:p>
            <a:pPr algn="l">
              <a:lnSpc>
                <a:spcPct val="115000"/>
              </a:lnSpc>
            </a:pPr>
            <a:r>
              <a:rPr sz="1300" b="0">
                <a:solidFill>
                  <a:srgbClr val="64748B"/>
                </a:solidFill>
                <a:latin typeface="Calibri"/>
              </a:rPr>
              <a:t>where each paradigm wins, not one overall winner</a:t>
            </a:r>
          </a:p>
        </p:txBody>
      </p:sp>
      <p:sp>
        <p:nvSpPr>
          <p:cNvPr id="21" name="Rectangle 20"/>
          <p:cNvSpPr/>
          <p:nvPr/>
        </p:nvSpPr>
        <p:spPr>
          <a:xfrm>
            <a:off x="566928" y="5760720"/>
            <a:ext cx="11057839" cy="381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5961888"/>
            <a:ext cx="10881360" cy="365760"/>
          </a:xfrm>
          <a:prstGeom prst="rect">
            <a:avLst/>
          </a:prstGeom>
          <a:noFill/>
        </p:spPr>
        <p:txBody>
          <a:bodyPr wrap="square" anchor="t" lIns="0" rIns="0" tIns="0" bIns="0">
            <a:spAutoFit/>
          </a:bodyPr>
          <a:lstStyle/>
          <a:p>
            <a:pPr algn="l">
              <a:lnSpc>
                <a:spcPct val="115000"/>
              </a:lnSpc>
            </a:pPr>
            <a:r>
              <a:rPr sz="1400" b="1">
                <a:solidFill>
                  <a:srgbClr val="0F172A"/>
                </a:solidFill>
                <a:latin typeface="Calibri"/>
              </a:rPr>
              <a:t>A result showing no difference between the paradigms would falsify the hypothesis, and that finding still counts.</a:t>
            </a:r>
          </a:p>
        </p:txBody>
      </p:sp>
      <p:sp>
        <p:nvSpPr>
          <p:cNvPr id="23" name="TextBox 22"/>
          <p:cNvSpPr txBox="1"/>
          <p:nvPr/>
        </p:nvSpPr>
        <p:spPr>
          <a:xfrm>
            <a:off x="10527487" y="6382512"/>
            <a:ext cx="1097280" cy="274320"/>
          </a:xfrm>
          <a:prstGeom prst="rect">
            <a:avLst/>
          </a:prstGeom>
          <a:noFill/>
        </p:spPr>
        <p:txBody>
          <a:bodyPr wrap="square" anchor="t" lIns="0" rIns="0" tIns="0" bIns="0">
            <a:spAutoFit/>
          </a:bodyPr>
          <a:lstStyle/>
          <a:p>
            <a:pPr algn="r">
              <a:lnSpc>
                <a:spcPct val="115000"/>
              </a:lnSpc>
            </a:pPr>
            <a:r>
              <a:rPr sz="1000" b="0">
                <a:solidFill>
                  <a:srgbClr val="64748B"/>
                </a:solidFill>
                <a:latin typeface="Consolas"/>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